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23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3108960" cy="347472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 •  Horizon Europe  •  Grant #101148374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Хмельницький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Пілотний проєкт адаптивного управління трафіком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2340864"/>
            <a:ext cx="5669280" cy="4572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48716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Впровадження наукових досліджень у практику міського управління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1005840"/>
            <a:ext cx="1920240" cy="1097280"/>
          </a:xfrm>
          <a:prstGeom prst="rect">
            <a:avLst/>
          </a:prstGeom>
          <a:solidFill>
            <a:srgbClr val="1263A0"/>
          </a:solidFill>
          <a:ln w="12700">
            <a:solidFill>
              <a:srgbClr val="008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111556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267 891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49440" y="16276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мешканців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747128"/>
            <a:ext cx="1920240" cy="1097280"/>
          </a:xfrm>
          <a:prstGeom prst="rect">
            <a:avLst/>
          </a:prstGeom>
          <a:solidFill>
            <a:srgbClr val="1263A0"/>
          </a:solidFill>
          <a:ln w="12700">
            <a:solidFill>
              <a:srgbClr val="008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28568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20,6 км²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3368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 міста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F1C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Scenario Mapping Workshop  •  U_CAN Pilot Cities  •  202</a:t>
            </a:r>
            <a:r>
              <a:rPr lang="uk-UA" sz="900" dirty="0">
                <a:solidFill>
                  <a:srgbClr val="C8D8E4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пілоту: Адаптивне управління трафіком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4590A"/>
                </a:solidFill>
              </a:rPr>
              <a:t>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87552" y="1042416"/>
            <a:ext cx="7726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Статичні системи управління трафіком не реагують на реальний стан доріг, не враховують рельєф міста і не оптимізують потоки в реальному </a:t>
            </a:r>
            <a:r>
              <a:rPr lang="en-US" sz="12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часі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це призводить до заторів і підвищених викидів CO₂.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84832"/>
            <a:ext cx="2743200" cy="54864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231136"/>
            <a:ext cx="822960" cy="822960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76856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Смарт-сенсори та камери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даних про трафік у реальному часі з перехресть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27832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27832" y="2084832"/>
            <a:ext cx="2743200" cy="54864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16" name="Shape 13"/>
          <p:cNvSpPr/>
          <p:nvPr/>
        </p:nvSpPr>
        <p:spPr>
          <a:xfrm>
            <a:off x="4187952" y="2231136"/>
            <a:ext cx="822960" cy="822960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276856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27832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Штучний інтелект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64992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розпізнавання патернів та адаптивного управління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35624" y="2084832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35624" y="2084832"/>
            <a:ext cx="2743200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2" name="Shape 18"/>
          <p:cNvSpPr/>
          <p:nvPr/>
        </p:nvSpPr>
        <p:spPr>
          <a:xfrm>
            <a:off x="7095744" y="2231136"/>
            <a:ext cx="82296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2276856"/>
            <a:ext cx="731520" cy="731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35624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Зниження CO₂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72784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Оптимізація </a:t>
            </a:r>
            <a:r>
              <a:rPr lang="en-US" sz="11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потоків</a:t>
            </a: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менше зупинок та зайвих викидів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27" name="Text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90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стан: </a:t>
            </a:r>
            <a:r>
              <a:rPr lang="en-US" sz="2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застаріла</a:t>
            </a: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FEF3E2"/>
          </a:solidFill>
          <a:ln w="12700">
            <a:solidFill>
              <a:srgbClr val="D4590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24128"/>
            <a:ext cx="7699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управління трафіком </a:t>
            </a:r>
            <a:r>
              <a:rPr lang="en-US" sz="1200" b="1" dirty="0" err="1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Хмельницького</a:t>
            </a: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морально</a:t>
            </a: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застаріла</a:t>
            </a: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є негнучкою</a:t>
            </a: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Інтегрувати ШІ в </a:t>
            </a:r>
            <a:r>
              <a:rPr lang="en-US" sz="1200" b="1" dirty="0" err="1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неможливо</a:t>
            </a:r>
            <a:r>
              <a:rPr lang="en-US" sz="1200" b="1" dirty="0">
                <a:solidFill>
                  <a:srgbClr val="8B3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заміни обладнання.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783080"/>
            <a:ext cx="4023360" cy="4206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783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ЗАРАЗ </a:t>
            </a:r>
            <a:r>
              <a:rPr lang="uk-UA" sz="1300" b="1" dirty="0">
                <a:solidFill>
                  <a:srgbClr val="FFFFFF"/>
                </a:solidFill>
              </a:rPr>
              <a:t>-</a:t>
            </a:r>
            <a:r>
              <a:rPr lang="en-US" sz="1300" b="1" dirty="0">
                <a:solidFill>
                  <a:srgbClr val="FFFFFF"/>
                </a:solidFill>
              </a:rPr>
              <a:t> що маємо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" y="2322576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2951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Фіксовані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цикли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сигналів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адаптації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" y="2761488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27340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датчиків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реального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часу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проблемний збір даних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" y="3200400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31729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dirty="0" err="1"/>
              <a:t>Немає</a:t>
            </a:r>
            <a:r>
              <a:rPr lang="ru-RU" sz="1100" dirty="0"/>
              <a:t> </a:t>
            </a:r>
            <a:r>
              <a:rPr lang="ru-RU" sz="1100" dirty="0" err="1"/>
              <a:t>інтеграції</a:t>
            </a:r>
            <a:r>
              <a:rPr lang="ru-RU" sz="1100" dirty="0"/>
              <a:t> </a:t>
            </a:r>
            <a:r>
              <a:rPr lang="ru-RU" sz="1100" dirty="0" err="1"/>
              <a:t>між</a:t>
            </a:r>
            <a:r>
              <a:rPr lang="ru-RU" sz="1100" dirty="0"/>
              <a:t> </a:t>
            </a:r>
            <a:r>
              <a:rPr lang="ru-RU" sz="1100" dirty="0" err="1"/>
              <a:t>вузлами</a:t>
            </a:r>
            <a:r>
              <a:rPr lang="ru-RU" sz="1100" dirty="0"/>
              <a:t> </a:t>
            </a:r>
            <a:r>
              <a:rPr lang="ru-RU" sz="1100" dirty="0" err="1"/>
              <a:t>управління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" y="3639312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36118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Неможливо підключити ШІ-алгоритми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" y="4078224"/>
            <a:ext cx="2560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40507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Рельєф міста ніяк не враховується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651760"/>
            <a:ext cx="438912" cy="43891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800600" y="178308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1783080"/>
            <a:ext cx="4023360" cy="42062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4" name="Text 20"/>
          <p:cNvSpPr/>
          <p:nvPr/>
        </p:nvSpPr>
        <p:spPr>
          <a:xfrm>
            <a:off x="4800600" y="17830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ПОТРІБНО </a:t>
            </a:r>
            <a:r>
              <a:rPr lang="uk-UA" sz="1300" b="1">
                <a:solidFill>
                  <a:srgbClr val="FFFFFF"/>
                </a:solidFill>
              </a:rPr>
              <a:t>-</a:t>
            </a:r>
            <a:r>
              <a:rPr lang="en-US" sz="1300" b="1">
                <a:solidFill>
                  <a:srgbClr val="FFFFFF"/>
                </a:solidFill>
              </a:rPr>
              <a:t> </a:t>
            </a:r>
            <a:r>
              <a:rPr lang="en-US" sz="1300" b="1" dirty="0">
                <a:solidFill>
                  <a:srgbClr val="FFFFFF"/>
                </a:solidFill>
              </a:rPr>
              <a:t>для ШІ-управління</a:t>
            </a:r>
            <a:endParaRPr lang="en-US" sz="13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331720"/>
            <a:ext cx="246888" cy="2468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30368" y="229514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Контролери з відкритим API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770632"/>
            <a:ext cx="246888" cy="246888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209544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30368" y="317296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 зв'язку між вузлами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4845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30368" y="361188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обробки даних реального часу</a:t>
            </a:r>
            <a:endParaRPr lang="en-US" sz="11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4087368"/>
            <a:ext cx="246888" cy="2468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30368" y="405079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Топографічний модуль (рельєф)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6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0D762E32-3CCD-9DE1-2E1E-071730E8395B}"/>
              </a:ext>
            </a:extLst>
          </p:cNvPr>
          <p:cNvSpPr/>
          <p:nvPr/>
        </p:nvSpPr>
        <p:spPr>
          <a:xfrm>
            <a:off x="5230368" y="27462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Сенсори та камери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перехрестях</a:t>
            </a:r>
            <a:r>
              <a:rPr lang="uk-UA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(камери є, однак їх програмне забезпечення необхідно поєднати із системами керування рухом)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Наукова основа: що вже зроблено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91440" cy="1572768"/>
          </a:xfrm>
          <a:prstGeom prst="rect">
            <a:avLst/>
          </a:prstGeom>
          <a:solidFill>
            <a:srgbClr val="1263A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2416" y="10241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Стаття 1  </a:t>
            </a:r>
            <a:r>
              <a:rPr lang="uk-UA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Future Transportation, 2025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42416" y="13716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Адаптивний ML-підхід до розпізнавання патернів трафіку (HDBSCAN + k-means)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42416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0.79–0.82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42416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V-measure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29584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9584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29584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ідентифікації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16752" y="1737360"/>
            <a:ext cx="2286000" cy="658368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16752" y="2048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Темпоральна когерентність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2743200"/>
            <a:ext cx="8503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" y="2743200"/>
            <a:ext cx="91440" cy="1719072"/>
          </a:xfrm>
          <a:prstGeom prst="rect">
            <a:avLst/>
          </a:prstGeom>
          <a:solidFill>
            <a:srgbClr val="008B9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52928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42416" y="27614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Стаття 2  </a:t>
            </a:r>
            <a:r>
              <a:rPr lang="uk-UA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Future Transportation, 2026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42416" y="3108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Топографічно-усвідомлене глибоке навчання для управління трафіком (DRL + CSRD)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200656" y="3493008"/>
            <a:ext cx="2286000" cy="713232"/>
          </a:xfrm>
          <a:prstGeom prst="rect">
            <a:avLst/>
          </a:prstGeom>
          <a:solidFill>
            <a:srgbClr val="E8F8F5"/>
          </a:solidFill>
          <a:ln w="12700">
            <a:solidFill>
              <a:srgbClr val="008B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200656" y="3511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−8.6%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2200656" y="3822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vs Max-Pressure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87824" y="3493008"/>
            <a:ext cx="2286000" cy="713232"/>
          </a:xfrm>
          <a:prstGeom prst="rect">
            <a:avLst/>
          </a:prstGeom>
          <a:solidFill>
            <a:srgbClr val="E8F8F5"/>
          </a:solidFill>
          <a:ln w="12700">
            <a:solidFill>
              <a:srgbClr val="008B9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87824" y="35112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−4.7%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687824" y="3822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vs стандарт DQN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Обидві роботи валідовані на цифровому двійнику транспортної мережі Хмельницького (SUMO simulation, 15 перехресть, 45,7 км)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5" name="Text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робимо на кожному етапі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73152" cy="621792"/>
          </a:xfrm>
          <a:prstGeom prst="rect">
            <a:avLst/>
          </a:prstGeom>
          <a:solidFill>
            <a:srgbClr val="5B7A91"/>
          </a:solidFill>
          <a:ln/>
        </p:spPr>
      </p:sp>
      <p:sp>
        <p:nvSpPr>
          <p:cNvPr id="7" name="Shape 5"/>
          <p:cNvSpPr/>
          <p:nvPr/>
        </p:nvSpPr>
        <p:spPr>
          <a:xfrm>
            <a:off x="393192" y="1097280"/>
            <a:ext cx="1371600" cy="475488"/>
          </a:xfrm>
          <a:prstGeom prst="rect">
            <a:avLst/>
          </a:prstGeom>
          <a:solidFill>
            <a:srgbClr val="5B7A91"/>
          </a:solidFill>
          <a:ln w="12700">
            <a:solidFill>
              <a:srgbClr val="5B7A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972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Зараз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0607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Фіксуємо поточний стан, описуємо проблему,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формуємо технічне завдання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86600" y="1115568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5B7A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11556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Технічне завдання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850392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37360"/>
            <a:ext cx="73152" cy="621792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" y="1810512"/>
            <a:ext cx="1371600" cy="475488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8105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Платформа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1773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цифрова платформа · стандарти підключення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керування · захищена мережа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86600" y="1828800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828800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основа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50592"/>
            <a:ext cx="73152" cy="621792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23" name="Shape 21"/>
          <p:cNvSpPr/>
          <p:nvPr/>
        </p:nvSpPr>
        <p:spPr>
          <a:xfrm>
            <a:off x="393192" y="2523744"/>
            <a:ext cx="1371600" cy="475488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5237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Дані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63240" y="2487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Камери та лічильники на ключових перехрестях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даних інтенсивності, складу потоку, годин пік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542032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008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86600" y="254203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8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 база даних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163824"/>
            <a:ext cx="8503920" cy="621792"/>
          </a:xfrm>
          <a:prstGeom prst="rect">
            <a:avLst/>
          </a:prstGeom>
          <a:solidFill>
            <a:srgbClr val="F0F6FB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163824"/>
            <a:ext cx="73152" cy="62179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393192" y="3236976"/>
            <a:ext cx="137160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2369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Пілот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063240" y="3200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3–5 перехрестях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 реального зниження CO₂ та тривалості поїздок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86600" y="3255264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3255264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реальні результати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770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77056"/>
            <a:ext cx="73152" cy="62179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9" name="Shape 37"/>
          <p:cNvSpPr/>
          <p:nvPr/>
        </p:nvSpPr>
        <p:spPr>
          <a:xfrm>
            <a:off x="393192" y="3950208"/>
            <a:ext cx="137160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39502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Масштаб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63240" y="3913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Розширення на всі перехрестя · Центр управління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для інших міст України та ЄС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86600" y="3968496"/>
            <a:ext cx="1609344" cy="420624"/>
          </a:xfrm>
          <a:prstGeom prst="rect">
            <a:avLst/>
          </a:prstGeom>
          <a:solidFill>
            <a:srgbClr val="EAF5E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3968496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ШІ-система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3192" y="9326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63240" y="9326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робимо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9326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617720"/>
            <a:ext cx="8503920" cy="146304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622292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26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Симуляції → реальні дані: коли з'явиться база Фази 2, алгоритми з наукових статей стануть значно точнішими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Дорожня карта: спочатку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потім будівля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12064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05840"/>
            <a:ext cx="7818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Пряме впровадження ШІ неможливе: немає сучасної інфраструктури і реальних даних. </a:t>
            </a:r>
            <a:r>
              <a:rPr lang="en-US" sz="115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фундамент, потім алгоритми.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664208"/>
            <a:ext cx="2029968" cy="512064"/>
          </a:xfrm>
          <a:prstGeom prst="rect">
            <a:avLst/>
          </a:prstGeom>
          <a:solidFill>
            <a:srgbClr val="5B7A91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Застаріла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976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даних, ізольовані контролери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6072" y="4041648"/>
            <a:ext cx="1517904" cy="329184"/>
          </a:xfrm>
          <a:prstGeom prst="rect">
            <a:avLst/>
          </a:prstGeom>
          <a:solidFill>
            <a:srgbClr val="5B7A91"/>
          </a:solidFill>
          <a:ln w="12700">
            <a:solidFill>
              <a:srgbClr val="5B7A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2779776"/>
            <a:ext cx="237744" cy="2377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51460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14600" y="1664208"/>
            <a:ext cx="2029968" cy="512064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9" name="Text 15"/>
          <p:cNvSpPr/>
          <p:nvPr/>
        </p:nvSpPr>
        <p:spPr>
          <a:xfrm>
            <a:off x="251460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51460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2432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Future-proof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2432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Архітектура, стандарти, центр керування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70632" y="4041648"/>
            <a:ext cx="1517904" cy="32918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7063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779776"/>
            <a:ext cx="237744" cy="23774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70916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1664208"/>
            <a:ext cx="2029968" cy="512064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28" name="Text 23"/>
          <p:cNvSpPr/>
          <p:nvPr/>
        </p:nvSpPr>
        <p:spPr>
          <a:xfrm>
            <a:off x="470916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70916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81888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даних реального часу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81888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Камери, сенсори, база даних трафіку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965192" y="4041648"/>
            <a:ext cx="1517904" cy="329184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96519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779776"/>
            <a:ext cx="237744" cy="23774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903720" y="1664208"/>
            <a:ext cx="20299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903720" y="1664208"/>
            <a:ext cx="2029968" cy="5120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7" name="Text 31"/>
          <p:cNvSpPr/>
          <p:nvPr/>
        </p:nvSpPr>
        <p:spPr>
          <a:xfrm>
            <a:off x="6903720" y="170078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903720" y="193852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013448" y="2267712"/>
            <a:ext cx="18105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Адаптивне ШІ-керування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013448" y="2852928"/>
            <a:ext cx="18105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реальних даних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159752" y="4041648"/>
            <a:ext cx="1517904" cy="32918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159752" y="404164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20040" y="4617720"/>
            <a:ext cx="8503920" cy="128016"/>
          </a:xfrm>
          <a:prstGeom prst="rect">
            <a:avLst/>
          </a:prstGeom>
          <a:solidFill>
            <a:srgbClr val="C8D8E4"/>
          </a:solidFill>
          <a:ln/>
        </p:spPr>
      </p:sp>
      <p:sp>
        <p:nvSpPr>
          <p:cNvPr id="44" name="Text 38"/>
          <p:cNvSpPr/>
          <p:nvPr/>
        </p:nvSpPr>
        <p:spPr>
          <a:xfrm>
            <a:off x="320040" y="4626864"/>
            <a:ext cx="8503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</a:t>
            </a:r>
            <a:r>
              <a:rPr lang="en-US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i="1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готовий інструмент для Фази 3, який чекає правильного фундаменту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6" name="Text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Стратегія: поступова модернізація з урахуванням досліджень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585216"/>
          </a:xfrm>
          <a:prstGeom prst="rect">
            <a:avLst/>
          </a:prstGeom>
          <a:solidFill>
            <a:srgbClr val="D6EAF8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070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Принцип: при будь-якій заміні або </a:t>
            </a:r>
            <a:r>
              <a:rPr lang="en-US" sz="12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ремонті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ставити обладнання, сумісне з ШІ. Не все одразу, але правильно з першого разу.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700784"/>
            <a:ext cx="2743200" cy="548640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60120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Пілотна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зона</a:t>
            </a:r>
            <a:r>
              <a:rPr lang="uk-UA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(після фази 2)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3591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 3–5 ключових перехресть</a:t>
            </a:r>
            <a:endParaRPr lang="en-US" sz="10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88950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сучасні контролери + камери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41985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Підключити </a:t>
            </a:r>
            <a:r>
              <a:rPr lang="en-US" sz="10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95020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40664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Показати реальне зниження CO₂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227832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227832" y="1700784"/>
            <a:ext cx="2743200" cy="54864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22" name="Text 15"/>
          <p:cNvSpPr/>
          <p:nvPr/>
        </p:nvSpPr>
        <p:spPr>
          <a:xfrm>
            <a:off x="3319272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3867912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Розширення  (після результатів)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35915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48456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Тиражувати досвід на нові вузли</a:t>
            </a:r>
            <a:endParaRPr lang="en-US" sz="10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889504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48456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Замінювати старе обладнання по мірі зносу</a:t>
            </a:r>
            <a:endParaRPr lang="en-US" sz="10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419856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48456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Інтегрувати в муніципальні системи</a:t>
            </a:r>
            <a:endParaRPr lang="en-US" sz="10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95020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48456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Залучати нове фінансування під результати</a:t>
            </a:r>
            <a:endParaRPr lang="en-US" sz="1050" dirty="0"/>
          </a:p>
        </p:txBody>
      </p:sp>
      <p:sp>
        <p:nvSpPr>
          <p:cNvPr id="32" name="Shape 21"/>
          <p:cNvSpPr/>
          <p:nvPr/>
        </p:nvSpPr>
        <p:spPr>
          <a:xfrm>
            <a:off x="6135624" y="1700784"/>
            <a:ext cx="274320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2"/>
          <p:cNvSpPr/>
          <p:nvPr/>
        </p:nvSpPr>
        <p:spPr>
          <a:xfrm>
            <a:off x="6135624" y="1700784"/>
            <a:ext cx="2743200" cy="54864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4" name="Text 23"/>
          <p:cNvSpPr/>
          <p:nvPr/>
        </p:nvSpPr>
        <p:spPr>
          <a:xfrm>
            <a:off x="6227064" y="171907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24"/>
          <p:cNvSpPr/>
          <p:nvPr/>
        </p:nvSpPr>
        <p:spPr>
          <a:xfrm>
            <a:off x="6775704" y="1728216"/>
            <a:ext cx="20299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система  (перспектива)</a:t>
            </a:r>
            <a:endParaRPr lang="en-US" sz="10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359152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556248" y="2340864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управління трафіком міста</a:t>
            </a:r>
            <a:endParaRPr lang="en-US" sz="10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2889504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556248" y="2871216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вузли в єдиній цифровій мережі</a:t>
            </a:r>
            <a:endParaRPr lang="en-US" sz="10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419856"/>
            <a:ext cx="237744" cy="23774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556248" y="340156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 керує містом в реальному часі</a:t>
            </a:r>
            <a:endParaRPr lang="en-US" sz="10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950208"/>
            <a:ext cx="237744" cy="237744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556248" y="3931920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для інших міст України та ЄС</a:t>
            </a:r>
            <a:endParaRPr lang="en-US" sz="1050" dirty="0"/>
          </a:p>
        </p:txBody>
      </p:sp>
      <p:sp>
        <p:nvSpPr>
          <p:cNvPr id="44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5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91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закласти дослідження в плани міста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Що вписати в план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54864" cy="530352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910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Транспортний план міста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653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 ШІ-сумісності для нового обладнання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54864" cy="530352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591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Plan (план відновлення)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Модернізація транспорту зі smart-технологіями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54864" cy="530352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127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 закупівель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4015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</a:t>
            </a:r>
            <a:r>
              <a:rPr lang="en-US" sz="105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контролери</a:t>
            </a: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тільки з відкритим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54864" cy="530352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953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Партнерство ХНУ </a:t>
            </a:r>
            <a:r>
              <a:rPr lang="uk-UA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Рада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Університет як постійний технічний партнер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4160520" cy="4572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Чому це реалістично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91456" y="159105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618488"/>
            <a:ext cx="347472" cy="34747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66944" y="159105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опубліковані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технічна база готова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791456" y="223113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258568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66944" y="223113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потрібно міняти все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одразу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мірі зносу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791456" y="287121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2898648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66944" y="287121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підхід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відповідає вимогам ЄС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791456" y="351129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3538728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66944" y="351129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кожного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кроку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аргумент для грантів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791456" y="4151376"/>
            <a:ext cx="402336" cy="402336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4178808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66944" y="4151376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ХНУ залишається </a:t>
            </a:r>
            <a:r>
              <a:rPr lang="en-US" sz="115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партнером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знання не губляться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9" name="Text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590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невизначеності для сценарного планування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73152" cy="10241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07592"/>
            <a:ext cx="502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25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Воєнний контекст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14721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Руйнування інфраструктури, блекаути, непередбачуваність планування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" y="222199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2221992"/>
            <a:ext cx="73152" cy="1024128"/>
          </a:xfrm>
          <a:prstGeom prst="rect">
            <a:avLst/>
          </a:prstGeom>
          <a:solidFill>
            <a:srgbClr val="D4590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solidFill>
            <a:srgbClr val="D4590A"/>
          </a:solidFill>
          <a:ln w="12700">
            <a:solidFill>
              <a:srgbClr val="D4590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49631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3272" y="2295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Застаріла інфраструктура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3272" y="2642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Потрібна повна заміна </a:t>
            </a: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обладнання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коли і звідки кошти?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39242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392424"/>
            <a:ext cx="73152" cy="1024128"/>
          </a:xfrm>
          <a:prstGeom prst="rect">
            <a:avLst/>
          </a:prstGeom>
          <a:solidFill>
            <a:srgbClr val="1263A0"/>
          </a:solidFill>
          <a:ln/>
        </p:spPr>
      </p:sp>
      <p:sp>
        <p:nvSpPr>
          <p:cNvPr id="19" name="Shape 15"/>
          <p:cNvSpPr/>
          <p:nvPr/>
        </p:nvSpPr>
        <p:spPr>
          <a:xfrm>
            <a:off x="457200" y="3648456"/>
            <a:ext cx="502920" cy="502920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66744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3272" y="3465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Фінансова стійкість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33272" y="3813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Муніципальний бюджет, гранти ЄС, </a:t>
            </a:r>
            <a:r>
              <a:rPr lang="en-US" sz="1000" dirty="0" err="1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донори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що буде доступно?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105156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1051560"/>
            <a:ext cx="73152" cy="1024128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25" name="Shape 20"/>
          <p:cNvSpPr/>
          <p:nvPr/>
        </p:nvSpPr>
        <p:spPr>
          <a:xfrm>
            <a:off x="4892040" y="1307592"/>
            <a:ext cx="502920" cy="502920"/>
          </a:xfrm>
          <a:prstGeom prst="rect">
            <a:avLst/>
          </a:prstGeom>
          <a:solidFill>
            <a:srgbClr val="008B9A"/>
          </a:solidFill>
          <a:ln w="12700">
            <a:solidFill>
              <a:srgbClr val="008B9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3258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68112" y="11247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Прийняття громадою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68112" y="14721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підтримають мешканці нові обмеження та зміни у трафіку?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754880" y="222199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2221992"/>
            <a:ext cx="73152" cy="102412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1" name="Shape 25"/>
          <p:cNvSpPr/>
          <p:nvPr/>
        </p:nvSpPr>
        <p:spPr>
          <a:xfrm>
            <a:off x="4892040" y="2478024"/>
            <a:ext cx="50292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496312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68112" y="2295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та надійність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468112" y="26426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буде технічна база для роботи системи в кризових умовах?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754880" y="339242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54880" y="3392424"/>
            <a:ext cx="73152" cy="102412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7" name="Shape 30"/>
          <p:cNvSpPr/>
          <p:nvPr/>
        </p:nvSpPr>
        <p:spPr>
          <a:xfrm>
            <a:off x="4892040" y="3648456"/>
            <a:ext cx="50292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666744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68112" y="34655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Масштабованість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468112" y="38130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можна перенести модель на інші міста України та ЄС?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2B4E"/>
          </a:solidFill>
          <a:ln/>
        </p:spPr>
      </p:sp>
      <p:sp>
        <p:nvSpPr>
          <p:cNvPr id="42" name="Text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</a:rPr>
              <a:t>U_CAN Pilot • Khmelnytskyi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114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запит до сьогоднішнього воркшопу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486400" cy="45720"/>
          </a:xfrm>
          <a:prstGeom prst="rect">
            <a:avLst/>
          </a:prstGeom>
          <a:solidFill>
            <a:srgbClr val="008B9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62456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38074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16736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Визначити, які невизначеності є найкритичнішими для пілоту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2029968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112264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1305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066544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Окреслити ключових стейкхолдерів і вразливі групи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65760" y="2779776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862072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8803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816352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Оцінити готовність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міста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технічну, інституційну, фінансову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365760" y="3529584"/>
            <a:ext cx="7132320" cy="621792"/>
          </a:xfrm>
          <a:prstGeom prst="rect">
            <a:avLst/>
          </a:prstGeom>
          <a:solidFill>
            <a:srgbClr val="0D3A5C"/>
          </a:solidFill>
          <a:ln w="12700">
            <a:solidFill>
              <a:srgbClr val="1263A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3611880"/>
            <a:ext cx="420624" cy="420624"/>
          </a:xfrm>
          <a:prstGeom prst="rect">
            <a:avLst/>
          </a:prstGeom>
          <a:solidFill>
            <a:srgbClr val="1263A0"/>
          </a:solidFill>
          <a:ln w="12700">
            <a:solidFill>
              <a:srgbClr val="1263A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6301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56616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Разом сформулювати, за яких умов впровадження спрацює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 є. Дослідження є. </a:t>
            </a:r>
            <a:r>
              <a:rPr lang="en-US" sz="1200" i="1" dirty="0" err="1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</a:t>
            </a:r>
            <a:r>
              <a:rPr lang="en-US" sz="1200" i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1200" i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якому майбутньому ми будемо їх впроваджувати.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0" y="4590288"/>
            <a:ext cx="9144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Хмельницький національний університет  •  Транспортний департамент МР  •  U_CAN 202</a:t>
            </a:r>
            <a:r>
              <a:rPr lang="uk-UA" sz="1000" dirty="0">
                <a:solidFill>
                  <a:srgbClr val="0D2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891</Words>
  <Application>Microsoft Office PowerPoint</Application>
  <PresentationFormat>Экран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Khmelnytskyi Pilot – U_CAN Workshop</dc:title>
  <dc:subject>PptxGenJS Presentation</dc:subject>
  <dc:creator>PptxGenJS</dc:creator>
  <cp:lastModifiedBy>admin</cp:lastModifiedBy>
  <cp:revision>10</cp:revision>
  <dcterms:created xsi:type="dcterms:W3CDTF">2026-03-31T14:20:47Z</dcterms:created>
  <dcterms:modified xsi:type="dcterms:W3CDTF">2026-03-31T14:53:34Z</dcterms:modified>
</cp:coreProperties>
</file>