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4" r:id="rId6"/>
    <p:sldId id="263" r:id="rId7"/>
    <p:sldId id="260" r:id="rId8"/>
    <p:sldId id="261" r:id="rId9"/>
    <p:sldId id="262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47" autoAdjust="0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83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vlo Radiuk" userId="11c2245571c8b47f" providerId="LiveId" clId="{C7117AB0-8483-4904-A44A-F9B2506CF0F8}"/>
    <pc:docChg chg="undo custSel modSld">
      <pc:chgData name="Pavlo Radiuk" userId="11c2245571c8b47f" providerId="LiveId" clId="{C7117AB0-8483-4904-A44A-F9B2506CF0F8}" dt="2026-03-31T16:13:49.357" v="4" actId="20577"/>
      <pc:docMkLst>
        <pc:docMk/>
      </pc:docMkLst>
      <pc:sldChg chg="modSp mod">
        <pc:chgData name="Pavlo Radiuk" userId="11c2245571c8b47f" providerId="LiveId" clId="{C7117AB0-8483-4904-A44A-F9B2506CF0F8}" dt="2026-03-31T16:13:49.357" v="4" actId="20577"/>
        <pc:sldMkLst>
          <pc:docMk/>
          <pc:sldMk cId="0" sldId="261"/>
        </pc:sldMkLst>
        <pc:spChg chg="mod">
          <ac:chgData name="Pavlo Radiuk" userId="11c2245571c8b47f" providerId="LiveId" clId="{C7117AB0-8483-4904-A44A-F9B2506CF0F8}" dt="2026-03-31T16:13:49.357" v="4" actId="20577"/>
          <ac:spMkLst>
            <pc:docMk/>
            <pc:sldMk cId="0" sldId="261"/>
            <ac:spMk id="18" creationId="{00000000-0000-0000-0000-000000000000}"/>
          </ac:spMkLst>
        </pc:spChg>
      </pc:sldChg>
      <pc:sldChg chg="modSp mod">
        <pc:chgData name="Pavlo Radiuk" userId="11c2245571c8b47f" providerId="LiveId" clId="{C7117AB0-8483-4904-A44A-F9B2506CF0F8}" dt="2026-03-31T15:53:07.908" v="1" actId="1076"/>
        <pc:sldMkLst>
          <pc:docMk/>
          <pc:sldMk cId="0" sldId="262"/>
        </pc:sldMkLst>
        <pc:spChg chg="mod">
          <ac:chgData name="Pavlo Radiuk" userId="11c2245571c8b47f" providerId="LiveId" clId="{C7117AB0-8483-4904-A44A-F9B2506CF0F8}" dt="2026-03-31T15:53:07.908" v="1" actId="1076"/>
          <ac:spMkLst>
            <pc:docMk/>
            <pc:sldMk cId="0" sldId="262"/>
            <ac:spMk id="2" creationId="{00000000-0000-0000-0000-000000000000}"/>
          </ac:spMkLst>
        </pc:spChg>
      </pc:sldChg>
      <pc:sldChg chg="modSp mod">
        <pc:chgData name="Pavlo Radiuk" userId="11c2245571c8b47f" providerId="LiveId" clId="{C7117AB0-8483-4904-A44A-F9B2506CF0F8}" dt="2026-03-31T15:53:11.298" v="3" actId="1076"/>
        <pc:sldMkLst>
          <pc:docMk/>
          <pc:sldMk cId="0" sldId="265"/>
        </pc:sldMkLst>
        <pc:spChg chg="mod">
          <ac:chgData name="Pavlo Radiuk" userId="11c2245571c8b47f" providerId="LiveId" clId="{C7117AB0-8483-4904-A44A-F9B2506CF0F8}" dt="2026-03-31T15:53:11.298" v="3" actId="1076"/>
          <ac:spMkLst>
            <pc:docMk/>
            <pc:sldMk cId="0" sldId="265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8232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E26C267-C4A6-69F4-ED9A-EB43FDDD80F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704000" y="0"/>
            <a:ext cx="1419288" cy="900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B9A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" name="Shape 1"/>
          <p:cNvSpPr/>
          <p:nvPr/>
        </p:nvSpPr>
        <p:spPr>
          <a:xfrm>
            <a:off x="320040" y="256032"/>
            <a:ext cx="3108960" cy="347472"/>
          </a:xfrm>
          <a:prstGeom prst="rect">
            <a:avLst/>
          </a:prstGeom>
          <a:solidFill>
            <a:srgbClr val="1263A0"/>
          </a:solidFill>
          <a:ln w="12700">
            <a:solidFill>
              <a:srgbClr val="1263A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" name="Text 2"/>
          <p:cNvSpPr/>
          <p:nvPr/>
        </p:nvSpPr>
        <p:spPr>
          <a:xfrm>
            <a:off x="320040" y="25603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E4"/>
                </a:solidFill>
              </a:rPr>
              <a:t>U_CAN  •  Horizon Europe  •  Grant #101148374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Khmelnytskyi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320040" y="1737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Traffic Management Pilot Project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" y="2340864"/>
            <a:ext cx="5669280" cy="45720"/>
          </a:xfrm>
          <a:prstGeom prst="rect">
            <a:avLst/>
          </a:prstGeom>
          <a:solidFill>
            <a:srgbClr val="008B9A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8" name="Text 6"/>
          <p:cNvSpPr/>
          <p:nvPr/>
        </p:nvSpPr>
        <p:spPr>
          <a:xfrm>
            <a:off x="320040" y="2487168"/>
            <a:ext cx="6858000" cy="88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Research into Urban Governance Practice</a:t>
            </a:r>
          </a:p>
          <a:p>
            <a:pPr marL="0" indent="0">
              <a:buNone/>
            </a:pPr>
            <a:endParaRPr lang="en-US" sz="1400" i="1" dirty="0">
              <a:solidFill>
                <a:srgbClr val="D6EAF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chemeClr val="bg1">
                    <a:lumMod val="85000"/>
                  </a:schemeClr>
                </a:solidFill>
              </a:rPr>
              <a:t>Khmelnytskyi National University</a:t>
            </a:r>
          </a:p>
        </p:txBody>
      </p:sp>
      <p:sp>
        <p:nvSpPr>
          <p:cNvPr id="9" name="Shape 7"/>
          <p:cNvSpPr/>
          <p:nvPr/>
        </p:nvSpPr>
        <p:spPr>
          <a:xfrm>
            <a:off x="6949440" y="1005840"/>
            <a:ext cx="1920240" cy="1097280"/>
          </a:xfrm>
          <a:prstGeom prst="rect">
            <a:avLst/>
          </a:prstGeom>
          <a:solidFill>
            <a:srgbClr val="1263A0"/>
          </a:solidFill>
          <a:ln w="12700">
            <a:solidFill>
              <a:srgbClr val="008B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0" name="Text 8"/>
          <p:cNvSpPr/>
          <p:nvPr/>
        </p:nvSpPr>
        <p:spPr>
          <a:xfrm>
            <a:off x="6949440" y="1115568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267 891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949440" y="16276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49440" y="2747128"/>
            <a:ext cx="1920240" cy="1097280"/>
          </a:xfrm>
          <a:prstGeom prst="rect">
            <a:avLst/>
          </a:prstGeom>
          <a:solidFill>
            <a:srgbClr val="1263A0"/>
          </a:solidFill>
          <a:ln w="12700">
            <a:solidFill>
              <a:srgbClr val="008B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6" name="Text 14"/>
          <p:cNvSpPr/>
          <p:nvPr/>
        </p:nvSpPr>
        <p:spPr>
          <a:xfrm>
            <a:off x="6949440" y="2856856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20,6 км²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949440" y="33689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area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60F1C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9" name="Text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E4"/>
                </a:solidFill>
              </a:rPr>
              <a:t>Scenario Mapping Workshop  •  U_CAN Pilot Cities  •  202</a:t>
            </a:r>
            <a:r>
              <a:rPr lang="uk-UA" sz="900" dirty="0">
                <a:solidFill>
                  <a:srgbClr val="C8D8E4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4E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B9A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Theme: Adaptive Traffic Management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914400"/>
          </a:xfrm>
          <a:prstGeom prst="rect">
            <a:avLst/>
          </a:prstGeom>
          <a:solidFill>
            <a:srgbClr val="D6EAF8"/>
          </a:solidFill>
          <a:ln w="12700">
            <a:solidFill>
              <a:srgbClr val="1263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6" name="Text 4"/>
          <p:cNvSpPr/>
          <p:nvPr/>
        </p:nvSpPr>
        <p:spPr>
          <a:xfrm>
            <a:off x="411480" y="1078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4590A"/>
                </a:solidFill>
              </a:rPr>
              <a:t>⚠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87552" y="1042416"/>
            <a:ext cx="7726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Static traffic management systems do not respond to real road conditions, do not account for city terrain, and do not optimize flows in real time </a:t>
            </a:r>
            <a:r>
              <a:rPr lang="uk-UA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leading to congestion and elevated CO₂ emissions.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084832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9" name="Shape 7"/>
          <p:cNvSpPr/>
          <p:nvPr/>
        </p:nvSpPr>
        <p:spPr>
          <a:xfrm>
            <a:off x="320040" y="2084832"/>
            <a:ext cx="2743200" cy="54864"/>
          </a:xfrm>
          <a:prstGeom prst="rect">
            <a:avLst/>
          </a:prstGeom>
          <a:solidFill>
            <a:srgbClr val="1263A0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0" name="Shape 8"/>
          <p:cNvSpPr/>
          <p:nvPr/>
        </p:nvSpPr>
        <p:spPr>
          <a:xfrm>
            <a:off x="1280160" y="2231136"/>
            <a:ext cx="822960" cy="822960"/>
          </a:xfrm>
          <a:prstGeom prst="rect">
            <a:avLst/>
          </a:prstGeom>
          <a:solidFill>
            <a:srgbClr val="1263A0"/>
          </a:solidFill>
          <a:ln w="12700">
            <a:solidFill>
              <a:srgbClr val="1263A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2276856"/>
            <a:ext cx="731520" cy="7315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20040" y="316382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Sensors and Cameras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35661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traffic data collection from intersections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27832" y="2084832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5" name="Shape 12"/>
          <p:cNvSpPr/>
          <p:nvPr/>
        </p:nvSpPr>
        <p:spPr>
          <a:xfrm>
            <a:off x="3227832" y="2084832"/>
            <a:ext cx="2743200" cy="54864"/>
          </a:xfrm>
          <a:prstGeom prst="rect">
            <a:avLst/>
          </a:prstGeom>
          <a:solidFill>
            <a:srgbClr val="008B9A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6" name="Shape 13"/>
          <p:cNvSpPr/>
          <p:nvPr/>
        </p:nvSpPr>
        <p:spPr>
          <a:xfrm>
            <a:off x="4187952" y="2231136"/>
            <a:ext cx="822960" cy="822960"/>
          </a:xfrm>
          <a:prstGeom prst="rect">
            <a:avLst/>
          </a:prstGeom>
          <a:solidFill>
            <a:srgbClr val="008B9A"/>
          </a:solidFill>
          <a:ln w="12700">
            <a:solidFill>
              <a:srgbClr val="008B9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3672" y="2276856"/>
            <a:ext cx="731520" cy="7315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227832" y="316382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3364992" y="35661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recognition and adaptive management algorithms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135624" y="2084832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21" name="Shape 17"/>
          <p:cNvSpPr/>
          <p:nvPr/>
        </p:nvSpPr>
        <p:spPr>
          <a:xfrm>
            <a:off x="6135624" y="2084832"/>
            <a:ext cx="2743200" cy="54864"/>
          </a:xfrm>
          <a:prstGeom prst="rect">
            <a:avLst/>
          </a:prstGeom>
          <a:solidFill>
            <a:srgbClr val="1A7A4A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22" name="Shape 18"/>
          <p:cNvSpPr/>
          <p:nvPr/>
        </p:nvSpPr>
        <p:spPr>
          <a:xfrm>
            <a:off x="7095744" y="2231136"/>
            <a:ext cx="822960" cy="8229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1464" y="2276856"/>
            <a:ext cx="731520" cy="7315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135624" y="316382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Reduction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6272784" y="35661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optimization </a:t>
            </a:r>
            <a:r>
              <a:rPr lang="uk-UA" sz="110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0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stops and unnecessary emissions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B4E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27" name="Text 2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E4"/>
                </a:solidFill>
              </a:rPr>
              <a:t>U_CAN Pilot • Khmelnytskyi</a:t>
            </a:r>
            <a:endParaRPr lang="en-US" sz="9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CF35A648-1ACC-0C55-314A-303E1A060A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4000" y="0"/>
            <a:ext cx="1417790" cy="90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4E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590A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State: Outdated Infrastructure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640080"/>
          </a:xfrm>
          <a:prstGeom prst="rect">
            <a:avLst/>
          </a:prstGeom>
          <a:solidFill>
            <a:srgbClr val="FEF3E2"/>
          </a:solidFill>
          <a:ln w="12700">
            <a:solidFill>
              <a:srgbClr val="D4590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7899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024128"/>
            <a:ext cx="76992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3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Khmelnytskyi's traffic management system is technically obsolete. Integrating AI into it is impossible without replacing the hardware.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0040" y="1783080"/>
            <a:ext cx="40233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9" name="Shape 6"/>
          <p:cNvSpPr/>
          <p:nvPr/>
        </p:nvSpPr>
        <p:spPr>
          <a:xfrm>
            <a:off x="320040" y="1783080"/>
            <a:ext cx="4023360" cy="42062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0" name="Text 7"/>
          <p:cNvSpPr/>
          <p:nvPr/>
        </p:nvSpPr>
        <p:spPr>
          <a:xfrm>
            <a:off x="320040" y="1783080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NOW — What We Have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75488" y="2322576"/>
            <a:ext cx="256032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2" name="Text 9"/>
          <p:cNvSpPr/>
          <p:nvPr/>
        </p:nvSpPr>
        <p:spPr>
          <a:xfrm>
            <a:off x="804672" y="2295144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signal cycles </a:t>
            </a:r>
            <a:r>
              <a:rPr lang="uk-UA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adaptation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5488" y="2761488"/>
            <a:ext cx="256032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4" name="Text 11"/>
          <p:cNvSpPr/>
          <p:nvPr/>
        </p:nvSpPr>
        <p:spPr>
          <a:xfrm>
            <a:off x="804672" y="273405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r>
              <a:rPr lang="uk-UA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problematic data collection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75488" y="3200400"/>
            <a:ext cx="256032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6" name="Text 13"/>
          <p:cNvSpPr/>
          <p:nvPr/>
        </p:nvSpPr>
        <p:spPr>
          <a:xfrm>
            <a:off x="804672" y="317296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100" dirty="0" err="1"/>
              <a:t>No</a:t>
            </a:r>
            <a:r>
              <a:rPr lang="ru-RU" sz="1100" dirty="0"/>
              <a:t> </a:t>
            </a:r>
            <a:r>
              <a:rPr lang="ru-RU" sz="1100" dirty="0" err="1"/>
              <a:t>integration</a:t>
            </a:r>
            <a:r>
              <a:rPr lang="ru-RU" sz="1100" dirty="0"/>
              <a:t> </a:t>
            </a:r>
            <a:r>
              <a:rPr lang="ru-RU" sz="1100" dirty="0" err="1"/>
              <a:t>between</a:t>
            </a:r>
            <a:r>
              <a:rPr lang="ru-RU" sz="1100" dirty="0"/>
              <a:t> </a:t>
            </a:r>
            <a:r>
              <a:rPr lang="ru-RU" sz="1100" dirty="0" err="1"/>
              <a:t>control</a:t>
            </a:r>
            <a:r>
              <a:rPr lang="ru-RU" sz="1100" dirty="0"/>
              <a:t> </a:t>
            </a:r>
            <a:r>
              <a:rPr lang="ru-RU" sz="1100" dirty="0" err="1"/>
              <a:t>nodes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75488" y="3639312"/>
            <a:ext cx="256032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8" name="Text 15"/>
          <p:cNvSpPr/>
          <p:nvPr/>
        </p:nvSpPr>
        <p:spPr>
          <a:xfrm>
            <a:off x="804672" y="36118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to connect AI algorithms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75488" y="4078224"/>
            <a:ext cx="256032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0" name="Text 17"/>
          <p:cNvSpPr/>
          <p:nvPr/>
        </p:nvSpPr>
        <p:spPr>
          <a:xfrm>
            <a:off x="804672" y="405079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terrain is not taken into account</a:t>
            </a:r>
            <a:endParaRPr lang="en-US" sz="11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688" y="2651760"/>
            <a:ext cx="438912" cy="438912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4800600" y="1783080"/>
            <a:ext cx="40233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23" name="Shape 19"/>
          <p:cNvSpPr/>
          <p:nvPr/>
        </p:nvSpPr>
        <p:spPr>
          <a:xfrm>
            <a:off x="4800600" y="1783080"/>
            <a:ext cx="4023360" cy="420624"/>
          </a:xfrm>
          <a:prstGeom prst="rect">
            <a:avLst/>
          </a:prstGeom>
          <a:solidFill>
            <a:srgbClr val="1A7A4A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24" name="Text 20"/>
          <p:cNvSpPr/>
          <p:nvPr/>
        </p:nvSpPr>
        <p:spPr>
          <a:xfrm>
            <a:off x="4800600" y="1783080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NEEDED </a:t>
            </a:r>
            <a:r>
              <a:rPr lang="uk-UA" sz="1300" b="1" dirty="0">
                <a:solidFill>
                  <a:srgbClr val="FFFFFF"/>
                </a:solidFill>
              </a:rPr>
              <a:t>-</a:t>
            </a:r>
            <a:r>
              <a:rPr lang="en-US" sz="1300" b="1" dirty="0">
                <a:solidFill>
                  <a:srgbClr val="FFFFFF"/>
                </a:solidFill>
              </a:rPr>
              <a:t> for AI Management</a:t>
            </a:r>
            <a:endParaRPr lang="en-US" sz="13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2331720"/>
            <a:ext cx="246888" cy="24688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230368" y="2295144"/>
            <a:ext cx="3493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with open API</a:t>
            </a:r>
            <a:endParaRPr lang="en-US" sz="11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2770632"/>
            <a:ext cx="246888" cy="246888"/>
          </a:xfrm>
          <a:prstGeom prst="rect">
            <a:avLst/>
          </a:prstGeom>
        </p:spPr>
      </p:pic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3209544"/>
            <a:ext cx="246888" cy="24688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230368" y="3172968"/>
            <a:ext cx="3493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network between nodes</a:t>
            </a:r>
            <a:endParaRPr lang="en-US" sz="1100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3648456"/>
            <a:ext cx="246888" cy="24688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230368" y="3611880"/>
            <a:ext cx="3493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processing platform</a:t>
            </a:r>
            <a:endParaRPr lang="en-US" sz="1100" dirty="0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4087368"/>
            <a:ext cx="246888" cy="246888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5230368" y="4050792"/>
            <a:ext cx="3493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Topographic module (terrain)</a:t>
            </a:r>
            <a:endParaRPr lang="en-US" sz="1100" dirty="0"/>
          </a:p>
        </p:txBody>
      </p:sp>
      <p:sp>
        <p:nvSpPr>
          <p:cNvPr id="35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B4E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6" name="Text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E4"/>
                </a:solidFill>
              </a:rPr>
              <a:t>U_CAN Pilot • Khmelnytskyi</a:t>
            </a:r>
            <a:endParaRPr lang="en-US" sz="900" dirty="0"/>
          </a:p>
        </p:txBody>
      </p:sp>
      <p:sp>
        <p:nvSpPr>
          <p:cNvPr id="38" name="Text 22">
            <a:extLst>
              <a:ext uri="{FF2B5EF4-FFF2-40B4-BE49-F238E27FC236}">
                <a16:creationId xmlns:a16="http://schemas.microsoft.com/office/drawing/2014/main" id="{0D762E32-3CCD-9DE1-2E1E-071730E8395B}"/>
              </a:ext>
            </a:extLst>
          </p:cNvPr>
          <p:cNvSpPr/>
          <p:nvPr/>
        </p:nvSpPr>
        <p:spPr>
          <a:xfrm>
            <a:off x="5230368" y="2746248"/>
            <a:ext cx="3493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and cameras </a:t>
            </a:r>
            <a:r>
              <a:rPr lang="en-US" sz="110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</a:t>
            </a: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intersections</a:t>
            </a:r>
            <a:r>
              <a:rPr lang="uk-UA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(cameras exist, but their software must be integrated with traffic management systems)</a:t>
            </a:r>
            <a:endParaRPr lang="en-US" sz="11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1CBBE75-C76B-7B34-349F-907485B999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4000" y="0"/>
            <a:ext cx="1417790" cy="90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4E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B9A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Foundation: What Has Been Done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91440" cy="1572768"/>
          </a:xfrm>
          <a:prstGeom prst="rect">
            <a:avLst/>
          </a:prstGeom>
          <a:solidFill>
            <a:srgbClr val="1263A0"/>
          </a:solidFill>
          <a:ln/>
        </p:spPr>
        <p:txBody>
          <a:bodyPr/>
          <a:lstStyle/>
          <a:p>
            <a:endParaRPr lang="uk-UA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15568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42416" y="1024128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6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1  </a:t>
            </a:r>
            <a:r>
              <a:rPr lang="uk-UA" sz="1300" b="1" dirty="0">
                <a:solidFill>
                  <a:srgbClr val="126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300" b="1" dirty="0">
                <a:solidFill>
                  <a:srgbClr val="126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Future Transportation, 2025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42416" y="137160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ML approach to traffic pattern recognition (HDBSCAN + k-means)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042416" y="1737360"/>
            <a:ext cx="2286000" cy="658368"/>
          </a:xfrm>
          <a:prstGeom prst="rect">
            <a:avLst/>
          </a:prstGeom>
          <a:solidFill>
            <a:srgbClr val="D6EAF8"/>
          </a:solidFill>
          <a:ln w="12700">
            <a:solidFill>
              <a:srgbClr val="1263A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1" name="Text 8"/>
          <p:cNvSpPr/>
          <p:nvPr/>
        </p:nvSpPr>
        <p:spPr>
          <a:xfrm>
            <a:off x="1042416" y="17556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6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0.79–0.82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042416" y="20482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V-measure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529584" y="1737360"/>
            <a:ext cx="2286000" cy="658368"/>
          </a:xfrm>
          <a:prstGeom prst="rect">
            <a:avLst/>
          </a:prstGeom>
          <a:solidFill>
            <a:srgbClr val="D6EAF8"/>
          </a:solidFill>
          <a:ln w="12700">
            <a:solidFill>
              <a:srgbClr val="1263A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4" name="Text 11"/>
          <p:cNvSpPr/>
          <p:nvPr/>
        </p:nvSpPr>
        <p:spPr>
          <a:xfrm>
            <a:off x="3529584" y="17556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6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529584" y="20482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Accuracy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016752" y="1737360"/>
            <a:ext cx="2286000" cy="658368"/>
          </a:xfrm>
          <a:prstGeom prst="rect">
            <a:avLst/>
          </a:prstGeom>
          <a:solidFill>
            <a:srgbClr val="D6EAF8"/>
          </a:solidFill>
          <a:ln w="12700">
            <a:solidFill>
              <a:srgbClr val="1263A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7" name="Text 14"/>
          <p:cNvSpPr/>
          <p:nvPr/>
        </p:nvSpPr>
        <p:spPr>
          <a:xfrm>
            <a:off x="6016752" y="17556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6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016752" y="20482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Coherence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20040" y="2743200"/>
            <a:ext cx="850392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20" name="Shape 17"/>
          <p:cNvSpPr/>
          <p:nvPr/>
        </p:nvSpPr>
        <p:spPr>
          <a:xfrm>
            <a:off x="320040" y="2743200"/>
            <a:ext cx="91440" cy="1719072"/>
          </a:xfrm>
          <a:prstGeom prst="rect">
            <a:avLst/>
          </a:prstGeom>
          <a:solidFill>
            <a:srgbClr val="008B9A"/>
          </a:solidFill>
          <a:ln/>
        </p:spPr>
        <p:txBody>
          <a:bodyPr/>
          <a:lstStyle/>
          <a:p>
            <a:endParaRPr lang="uk-UA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852928"/>
            <a:ext cx="457200" cy="4572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042416" y="2761488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2  </a:t>
            </a:r>
            <a:r>
              <a:rPr lang="uk-UA" sz="1300" b="1" dirty="0">
                <a:solidFill>
                  <a:srgbClr val="00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300" b="1" dirty="0">
                <a:solidFill>
                  <a:srgbClr val="00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Future Transportation, 2026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1042416" y="310896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Topography-aware deep learning for traffic management (DRL + CSRD)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2200656" y="3493008"/>
            <a:ext cx="2286000" cy="713232"/>
          </a:xfrm>
          <a:prstGeom prst="rect">
            <a:avLst/>
          </a:prstGeom>
          <a:solidFill>
            <a:srgbClr val="E8F8F5"/>
          </a:solidFill>
          <a:ln w="12700">
            <a:solidFill>
              <a:srgbClr val="008B9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5" name="Text 21"/>
          <p:cNvSpPr/>
          <p:nvPr/>
        </p:nvSpPr>
        <p:spPr>
          <a:xfrm>
            <a:off x="2200656" y="351129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−8.6%</a:t>
            </a:r>
            <a:endParaRPr lang="en-US" sz="1800" dirty="0"/>
          </a:p>
        </p:txBody>
      </p:sp>
      <p:sp>
        <p:nvSpPr>
          <p:cNvPr id="26" name="Text 22"/>
          <p:cNvSpPr/>
          <p:nvPr/>
        </p:nvSpPr>
        <p:spPr>
          <a:xfrm>
            <a:off x="2200656" y="382219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vs Max-Pressure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4687824" y="3493008"/>
            <a:ext cx="2286000" cy="713232"/>
          </a:xfrm>
          <a:prstGeom prst="rect">
            <a:avLst/>
          </a:prstGeom>
          <a:solidFill>
            <a:srgbClr val="E8F8F5"/>
          </a:solidFill>
          <a:ln w="12700">
            <a:solidFill>
              <a:srgbClr val="008B9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8" name="Text 24"/>
          <p:cNvSpPr/>
          <p:nvPr/>
        </p:nvSpPr>
        <p:spPr>
          <a:xfrm>
            <a:off x="4687824" y="351129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−4.7%</a:t>
            </a:r>
            <a:endParaRPr lang="en-US" sz="1800" dirty="0"/>
          </a:p>
        </p:txBody>
      </p:sp>
      <p:sp>
        <p:nvSpPr>
          <p:cNvPr id="29" name="Text 25"/>
          <p:cNvSpPr/>
          <p:nvPr/>
        </p:nvSpPr>
        <p:spPr>
          <a:xfrm>
            <a:off x="4687824" y="382219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vs standard DQN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320040" y="448056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papers validated on a digital twin of Khmelnytskyi's transport network (SUMO simulation, 15 intersections, 45.7 km)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B4E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5" name="Text 3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E4"/>
                </a:solidFill>
              </a:rPr>
              <a:t>U_CAN Pilot • Khmelnytskyi</a:t>
            </a:r>
            <a:endParaRPr lang="en-US" sz="9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5037FC74-86C7-3238-6FDF-D4FA03C5C3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4000" y="0"/>
            <a:ext cx="1417790" cy="90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4E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B9A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 at Each Stage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73152" cy="621792"/>
          </a:xfrm>
          <a:prstGeom prst="rect">
            <a:avLst/>
          </a:prstGeom>
          <a:solidFill>
            <a:srgbClr val="5B7A91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7" name="Shape 5"/>
          <p:cNvSpPr/>
          <p:nvPr/>
        </p:nvSpPr>
        <p:spPr>
          <a:xfrm>
            <a:off x="393192" y="1097280"/>
            <a:ext cx="1371600" cy="475488"/>
          </a:xfrm>
          <a:prstGeom prst="rect">
            <a:avLst/>
          </a:prstGeom>
          <a:solidFill>
            <a:srgbClr val="5B7A91"/>
          </a:solidFill>
          <a:ln w="12700">
            <a:solidFill>
              <a:srgbClr val="5B7A91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8" name="Text 6"/>
          <p:cNvSpPr/>
          <p:nvPr/>
        </p:nvSpPr>
        <p:spPr>
          <a:xfrm>
            <a:off x="393192" y="109728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· Now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63240" y="106070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current state, define the problem,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formulate technical specifications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086600" y="1115568"/>
            <a:ext cx="1609344" cy="420624"/>
          </a:xfrm>
          <a:prstGeom prst="rect">
            <a:avLst/>
          </a:prstGeom>
          <a:solidFill>
            <a:srgbClr val="EAF5EE"/>
          </a:solidFill>
          <a:ln w="12700">
            <a:solidFill>
              <a:srgbClr val="5B7A91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2" name="Text 10"/>
          <p:cNvSpPr/>
          <p:nvPr/>
        </p:nvSpPr>
        <p:spPr>
          <a:xfrm>
            <a:off x="7086600" y="1115568"/>
            <a:ext cx="1609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Specifications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1737360"/>
            <a:ext cx="8503920" cy="621792"/>
          </a:xfrm>
          <a:prstGeom prst="rect">
            <a:avLst/>
          </a:prstGeom>
          <a:solidFill>
            <a:srgbClr val="F0F6FB"/>
          </a:solidFill>
          <a:ln w="12700">
            <a:solidFill>
              <a:srgbClr val="C8D8E4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4" name="Shape 12"/>
          <p:cNvSpPr/>
          <p:nvPr/>
        </p:nvSpPr>
        <p:spPr>
          <a:xfrm>
            <a:off x="320040" y="1737360"/>
            <a:ext cx="73152" cy="621792"/>
          </a:xfrm>
          <a:prstGeom prst="rect">
            <a:avLst/>
          </a:prstGeom>
          <a:solidFill>
            <a:srgbClr val="1263A0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5" name="Shape 13"/>
          <p:cNvSpPr/>
          <p:nvPr/>
        </p:nvSpPr>
        <p:spPr>
          <a:xfrm>
            <a:off x="393192" y="1810512"/>
            <a:ext cx="1371600" cy="475488"/>
          </a:xfrm>
          <a:prstGeom prst="rect">
            <a:avLst/>
          </a:prstGeom>
          <a:solidFill>
            <a:srgbClr val="1263A0"/>
          </a:solidFill>
          <a:ln w="12700">
            <a:solidFill>
              <a:srgbClr val="1263A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6" name="Text 14"/>
          <p:cNvSpPr/>
          <p:nvPr/>
        </p:nvSpPr>
        <p:spPr>
          <a:xfrm>
            <a:off x="393192" y="181051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Platform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063240" y="177393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digital platform · connectivity standards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center · secured network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086600" y="1828800"/>
            <a:ext cx="1609344" cy="420624"/>
          </a:xfrm>
          <a:prstGeom prst="rect">
            <a:avLst/>
          </a:prstGeom>
          <a:solidFill>
            <a:srgbClr val="EAF5EE"/>
          </a:solidFill>
          <a:ln w="12700">
            <a:solidFill>
              <a:srgbClr val="1263A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0" name="Text 18"/>
          <p:cNvSpPr/>
          <p:nvPr/>
        </p:nvSpPr>
        <p:spPr>
          <a:xfrm>
            <a:off x="7086600" y="1828800"/>
            <a:ext cx="1609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6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Future-proof Foundation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2450592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2" name="Shape 20"/>
          <p:cNvSpPr/>
          <p:nvPr/>
        </p:nvSpPr>
        <p:spPr>
          <a:xfrm>
            <a:off x="320040" y="2450592"/>
            <a:ext cx="73152" cy="621792"/>
          </a:xfrm>
          <a:prstGeom prst="rect">
            <a:avLst/>
          </a:prstGeom>
          <a:solidFill>
            <a:srgbClr val="008B9A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23" name="Shape 21"/>
          <p:cNvSpPr/>
          <p:nvPr/>
        </p:nvSpPr>
        <p:spPr>
          <a:xfrm>
            <a:off x="393192" y="2523744"/>
            <a:ext cx="1371600" cy="475488"/>
          </a:xfrm>
          <a:prstGeom prst="rect">
            <a:avLst/>
          </a:prstGeom>
          <a:solidFill>
            <a:srgbClr val="008B9A"/>
          </a:solidFill>
          <a:ln w="12700">
            <a:solidFill>
              <a:srgbClr val="008B9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4" name="Text 22"/>
          <p:cNvSpPr/>
          <p:nvPr/>
        </p:nvSpPr>
        <p:spPr>
          <a:xfrm>
            <a:off x="393192" y="2523744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Data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063240" y="248716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and counters at key intersections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of traffic intensity, flow composition, peak hours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086600" y="2542032"/>
            <a:ext cx="1609344" cy="420624"/>
          </a:xfrm>
          <a:prstGeom prst="rect">
            <a:avLst/>
          </a:prstGeom>
          <a:solidFill>
            <a:srgbClr val="EAF5EE"/>
          </a:solidFill>
          <a:ln w="12700">
            <a:solidFill>
              <a:srgbClr val="008B9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8" name="Text 26"/>
          <p:cNvSpPr/>
          <p:nvPr/>
        </p:nvSpPr>
        <p:spPr>
          <a:xfrm>
            <a:off x="7086600" y="2542032"/>
            <a:ext cx="1609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Database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3163824"/>
            <a:ext cx="8503920" cy="621792"/>
          </a:xfrm>
          <a:prstGeom prst="rect">
            <a:avLst/>
          </a:prstGeom>
          <a:solidFill>
            <a:srgbClr val="F0F6FB"/>
          </a:solidFill>
          <a:ln w="12700">
            <a:solidFill>
              <a:srgbClr val="C8D8E4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0" name="Shape 28"/>
          <p:cNvSpPr/>
          <p:nvPr/>
        </p:nvSpPr>
        <p:spPr>
          <a:xfrm>
            <a:off x="320040" y="3163824"/>
            <a:ext cx="73152" cy="621792"/>
          </a:xfrm>
          <a:prstGeom prst="rect">
            <a:avLst/>
          </a:prstGeom>
          <a:solidFill>
            <a:srgbClr val="1A7A4A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1" name="Shape 29"/>
          <p:cNvSpPr/>
          <p:nvPr/>
        </p:nvSpPr>
        <p:spPr>
          <a:xfrm>
            <a:off x="393192" y="3236976"/>
            <a:ext cx="1371600" cy="47548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2" name="Text 30"/>
          <p:cNvSpPr/>
          <p:nvPr/>
        </p:nvSpPr>
        <p:spPr>
          <a:xfrm>
            <a:off x="393192" y="323697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Pilot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063240" y="32004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3–5 intersections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actual CO₂ reduction and trip duration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086600" y="3255264"/>
            <a:ext cx="1609344" cy="420624"/>
          </a:xfrm>
          <a:prstGeom prst="rect">
            <a:avLst/>
          </a:prstGeom>
          <a:solidFill>
            <a:srgbClr val="EAF5EE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6" name="Text 34"/>
          <p:cNvSpPr/>
          <p:nvPr/>
        </p:nvSpPr>
        <p:spPr>
          <a:xfrm>
            <a:off x="7086600" y="3255264"/>
            <a:ext cx="1609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Real Results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0040" y="3877056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8" name="Shape 36"/>
          <p:cNvSpPr/>
          <p:nvPr/>
        </p:nvSpPr>
        <p:spPr>
          <a:xfrm>
            <a:off x="320040" y="3877056"/>
            <a:ext cx="73152" cy="621792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9" name="Shape 37"/>
          <p:cNvSpPr/>
          <p:nvPr/>
        </p:nvSpPr>
        <p:spPr>
          <a:xfrm>
            <a:off x="393192" y="3950208"/>
            <a:ext cx="1371600" cy="47548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0" name="Text 38"/>
          <p:cNvSpPr/>
          <p:nvPr/>
        </p:nvSpPr>
        <p:spPr>
          <a:xfrm>
            <a:off x="393192" y="395020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Scale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063240" y="391363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to all intersections · Management Center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for other cities in Ukraine and the EU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086600" y="3968496"/>
            <a:ext cx="1609344" cy="420624"/>
          </a:xfrm>
          <a:prstGeom prst="rect">
            <a:avLst/>
          </a:prstGeom>
          <a:solidFill>
            <a:srgbClr val="EAF5EE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4" name="Text 42"/>
          <p:cNvSpPr/>
          <p:nvPr/>
        </p:nvSpPr>
        <p:spPr>
          <a:xfrm>
            <a:off x="7086600" y="3968496"/>
            <a:ext cx="1609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AI System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93192" y="932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063240" y="9326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086600" y="93268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20040" y="4617720"/>
            <a:ext cx="8503920" cy="146304"/>
          </a:xfrm>
          <a:prstGeom prst="rect">
            <a:avLst/>
          </a:prstGeom>
          <a:solidFill>
            <a:srgbClr val="D6EAF8"/>
          </a:solidFill>
          <a:ln w="12700">
            <a:solidFill>
              <a:srgbClr val="1263A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50" name="Text 48"/>
          <p:cNvSpPr/>
          <p:nvPr/>
        </p:nvSpPr>
        <p:spPr>
          <a:xfrm>
            <a:off x="320040" y="4622292"/>
            <a:ext cx="8503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126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Simulations → real data: when Phase 2 data becomes available, the algorithms from the research papers will become significantly more accurate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B4E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52" name="Text 5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E4"/>
                </a:solidFill>
              </a:rPr>
              <a:t>U_CAN Pilot • Khmelnytskyi</a:t>
            </a:r>
            <a:endParaRPr lang="en-US" sz="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C66554D-CD62-519F-59F1-F9B138E5D5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000" y="0"/>
            <a:ext cx="1417790" cy="90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4E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263A0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Roadmap: Foundation First </a:t>
            </a:r>
            <a:r>
              <a:rPr lang="uk-UA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Then the Building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8503920" cy="512064"/>
          </a:xfrm>
          <a:prstGeom prst="rect">
            <a:avLst/>
          </a:prstGeom>
          <a:solidFill>
            <a:srgbClr val="D6EAF8"/>
          </a:solidFill>
          <a:ln w="12700">
            <a:solidFill>
              <a:srgbClr val="1263A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05156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005840"/>
            <a:ext cx="7818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AI deployment is impossible: no modern infrastructure or real data. Logic </a:t>
            </a:r>
            <a:r>
              <a:rPr lang="uk-UA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foundation first, then algorithms.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20040" y="1664208"/>
            <a:ext cx="202996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9" name="Shape 6"/>
          <p:cNvSpPr/>
          <p:nvPr/>
        </p:nvSpPr>
        <p:spPr>
          <a:xfrm>
            <a:off x="320040" y="1664208"/>
            <a:ext cx="2029968" cy="512064"/>
          </a:xfrm>
          <a:prstGeom prst="rect">
            <a:avLst/>
          </a:prstGeom>
          <a:solidFill>
            <a:srgbClr val="5B7A91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0" name="Text 7"/>
          <p:cNvSpPr/>
          <p:nvPr/>
        </p:nvSpPr>
        <p:spPr>
          <a:xfrm>
            <a:off x="320040" y="1700784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20040" y="193852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29768" y="2267712"/>
            <a:ext cx="18105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 </a:t>
            </a:r>
            <a:r>
              <a:rPr lang="en-US" sz="120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29768" y="2852928"/>
            <a:ext cx="18105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data, isolated controllers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76072" y="4041648"/>
            <a:ext cx="1517904" cy="329184"/>
          </a:xfrm>
          <a:prstGeom prst="rect">
            <a:avLst/>
          </a:prstGeom>
          <a:solidFill>
            <a:srgbClr val="5B7A91"/>
          </a:solidFill>
          <a:ln w="12700">
            <a:solidFill>
              <a:srgbClr val="5B7A91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5" name="Text 12"/>
          <p:cNvSpPr/>
          <p:nvPr/>
        </p:nvSpPr>
        <p:spPr>
          <a:xfrm>
            <a:off x="576072" y="4041648"/>
            <a:ext cx="1517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4872" y="2779776"/>
            <a:ext cx="237744" cy="237744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2514600" y="1664208"/>
            <a:ext cx="202996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8" name="Shape 14"/>
          <p:cNvSpPr/>
          <p:nvPr/>
        </p:nvSpPr>
        <p:spPr>
          <a:xfrm>
            <a:off x="2514600" y="1664208"/>
            <a:ext cx="2029968" cy="512064"/>
          </a:xfrm>
          <a:prstGeom prst="rect">
            <a:avLst/>
          </a:prstGeom>
          <a:solidFill>
            <a:srgbClr val="1263A0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9" name="Text 15"/>
          <p:cNvSpPr/>
          <p:nvPr/>
        </p:nvSpPr>
        <p:spPr>
          <a:xfrm>
            <a:off x="2514600" y="1700784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2514600" y="193852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2624328" y="2267712"/>
            <a:ext cx="18105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Future-proof Platform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2624328" y="2852928"/>
            <a:ext cx="18105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standards, control center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2770632" y="4041648"/>
            <a:ext cx="1517904" cy="329184"/>
          </a:xfrm>
          <a:prstGeom prst="rect">
            <a:avLst/>
          </a:prstGeom>
          <a:solidFill>
            <a:srgbClr val="1263A0"/>
          </a:solidFill>
          <a:ln w="12700">
            <a:solidFill>
              <a:srgbClr val="1263A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4" name="Text 20"/>
          <p:cNvSpPr/>
          <p:nvPr/>
        </p:nvSpPr>
        <p:spPr>
          <a:xfrm>
            <a:off x="2770632" y="4041648"/>
            <a:ext cx="1517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9432" y="2779776"/>
            <a:ext cx="237744" cy="237744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4709160" y="1664208"/>
            <a:ext cx="202996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27" name="Shape 22"/>
          <p:cNvSpPr/>
          <p:nvPr/>
        </p:nvSpPr>
        <p:spPr>
          <a:xfrm>
            <a:off x="4709160" y="1664208"/>
            <a:ext cx="2029968" cy="512064"/>
          </a:xfrm>
          <a:prstGeom prst="rect">
            <a:avLst/>
          </a:prstGeom>
          <a:solidFill>
            <a:srgbClr val="008B9A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28" name="Text 23"/>
          <p:cNvSpPr/>
          <p:nvPr/>
        </p:nvSpPr>
        <p:spPr>
          <a:xfrm>
            <a:off x="4709160" y="1700784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4709160" y="193852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4818888" y="2267712"/>
            <a:ext cx="18105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Collection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4818888" y="2852928"/>
            <a:ext cx="18105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Cameras, sensors, traffic database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4965192" y="4041648"/>
            <a:ext cx="1517904" cy="329184"/>
          </a:xfrm>
          <a:prstGeom prst="rect">
            <a:avLst/>
          </a:prstGeom>
          <a:solidFill>
            <a:srgbClr val="008B9A"/>
          </a:solidFill>
          <a:ln w="12700">
            <a:solidFill>
              <a:srgbClr val="008B9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3" name="Text 28"/>
          <p:cNvSpPr/>
          <p:nvPr/>
        </p:nvSpPr>
        <p:spPr>
          <a:xfrm>
            <a:off x="4965192" y="4041648"/>
            <a:ext cx="1517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992" y="2779776"/>
            <a:ext cx="237744" cy="237744"/>
          </a:xfrm>
          <a:prstGeom prst="rect">
            <a:avLst/>
          </a:prstGeom>
        </p:spPr>
      </p:pic>
      <p:sp>
        <p:nvSpPr>
          <p:cNvPr id="35" name="Shape 29"/>
          <p:cNvSpPr/>
          <p:nvPr/>
        </p:nvSpPr>
        <p:spPr>
          <a:xfrm>
            <a:off x="6903720" y="1664208"/>
            <a:ext cx="202996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36" name="Shape 30"/>
          <p:cNvSpPr/>
          <p:nvPr/>
        </p:nvSpPr>
        <p:spPr>
          <a:xfrm>
            <a:off x="6903720" y="1664208"/>
            <a:ext cx="2029968" cy="512064"/>
          </a:xfrm>
          <a:prstGeom prst="rect">
            <a:avLst/>
          </a:prstGeom>
          <a:solidFill>
            <a:srgbClr val="1A7A4A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7" name="Text 31"/>
          <p:cNvSpPr/>
          <p:nvPr/>
        </p:nvSpPr>
        <p:spPr>
          <a:xfrm>
            <a:off x="6903720" y="1700784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6903720" y="193852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9" name="Text 33"/>
          <p:cNvSpPr/>
          <p:nvPr/>
        </p:nvSpPr>
        <p:spPr>
          <a:xfrm>
            <a:off x="7013448" y="2267712"/>
            <a:ext cx="18105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AI Management</a:t>
            </a:r>
            <a:endParaRPr lang="en-US" sz="1200" dirty="0"/>
          </a:p>
        </p:txBody>
      </p:sp>
      <p:sp>
        <p:nvSpPr>
          <p:cNvPr id="40" name="Text 34"/>
          <p:cNvSpPr/>
          <p:nvPr/>
        </p:nvSpPr>
        <p:spPr>
          <a:xfrm>
            <a:off x="7013448" y="2852928"/>
            <a:ext cx="18105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r>
              <a:rPr lang="en-US" sz="1000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r>
              <a:rPr lang="en-US" sz="1000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real data</a:t>
            </a:r>
            <a:endParaRPr lang="en-US" sz="1000" dirty="0"/>
          </a:p>
        </p:txBody>
      </p:sp>
      <p:sp>
        <p:nvSpPr>
          <p:cNvPr id="41" name="Shape 35"/>
          <p:cNvSpPr/>
          <p:nvPr/>
        </p:nvSpPr>
        <p:spPr>
          <a:xfrm>
            <a:off x="7159752" y="4041648"/>
            <a:ext cx="1517904" cy="32918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2" name="Text 36"/>
          <p:cNvSpPr/>
          <p:nvPr/>
        </p:nvSpPr>
        <p:spPr>
          <a:xfrm>
            <a:off x="7159752" y="4041648"/>
            <a:ext cx="1517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43" name="Shape 37"/>
          <p:cNvSpPr/>
          <p:nvPr/>
        </p:nvSpPr>
        <p:spPr>
          <a:xfrm>
            <a:off x="320040" y="4617720"/>
            <a:ext cx="8503920" cy="128016"/>
          </a:xfrm>
          <a:prstGeom prst="rect">
            <a:avLst/>
          </a:prstGeom>
          <a:solidFill>
            <a:srgbClr val="C8D8E4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44" name="Text 38"/>
          <p:cNvSpPr/>
          <p:nvPr/>
        </p:nvSpPr>
        <p:spPr>
          <a:xfrm>
            <a:off x="320040" y="4626864"/>
            <a:ext cx="8503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 err="1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r>
              <a:rPr lang="en-US" sz="850" i="1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850" i="1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850" i="1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ready-made tool for Phase 3, waiting for the right foundation</a:t>
            </a:r>
            <a:endParaRPr lang="en-US" sz="850" dirty="0"/>
          </a:p>
        </p:txBody>
      </p:sp>
      <p:sp>
        <p:nvSpPr>
          <p:cNvPr id="45" name="Shape 3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B4E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46" name="Text 4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E4"/>
                </a:solidFill>
              </a:rPr>
              <a:t>U_CAN Pilot • Khmelnytskyi</a:t>
            </a:r>
            <a:endParaRPr lang="en-US" sz="900"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2125F674-A1AB-1F59-344F-18EF23070A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5575" y="0"/>
            <a:ext cx="1417790" cy="90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4E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7A4A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Gradual Modernization Informed by Research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8503920" cy="585216"/>
          </a:xfrm>
          <a:prstGeom prst="rect">
            <a:avLst/>
          </a:prstGeom>
          <a:solidFill>
            <a:srgbClr val="D6EAF8"/>
          </a:solidFill>
          <a:ln w="12700">
            <a:solidFill>
              <a:srgbClr val="1263A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060704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9264" y="10058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Principle: with any replacement or repair </a:t>
            </a:r>
            <a:r>
              <a:rPr lang="uk-UA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install AI-compatible equipment. Not all at once, but right from the start.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0040" y="1700784"/>
            <a:ext cx="2743200" cy="2871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9" name="Shape 6"/>
          <p:cNvSpPr/>
          <p:nvPr/>
        </p:nvSpPr>
        <p:spPr>
          <a:xfrm>
            <a:off x="320040" y="1700784"/>
            <a:ext cx="2743200" cy="548640"/>
          </a:xfrm>
          <a:prstGeom prst="rect">
            <a:avLst/>
          </a:prstGeom>
          <a:solidFill>
            <a:srgbClr val="1263A0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0" name="Text 7"/>
          <p:cNvSpPr/>
          <p:nvPr/>
        </p:nvSpPr>
        <p:spPr>
          <a:xfrm>
            <a:off x="411480" y="1719072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960120" y="1728216"/>
            <a:ext cx="20299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r>
              <a:rPr lang="uk-UA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(after Phase 2)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0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2359152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0664" y="2340864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3–5 key intersections</a:t>
            </a:r>
            <a:endParaRPr lang="en-US" sz="10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2889504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40664" y="2871216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modern controllers + cameras</a:t>
            </a:r>
            <a:endParaRPr lang="en-US" sz="10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3419856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40664" y="3401568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</a:t>
            </a:r>
            <a:r>
              <a:rPr lang="en-US" sz="10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3950208"/>
            <a:ext cx="237744" cy="23774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40664" y="3931920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real CO₂ reduction</a:t>
            </a:r>
            <a:endParaRPr lang="en-US" sz="1050" dirty="0"/>
          </a:p>
        </p:txBody>
      </p:sp>
      <p:sp>
        <p:nvSpPr>
          <p:cNvPr id="20" name="Shape 13"/>
          <p:cNvSpPr/>
          <p:nvPr/>
        </p:nvSpPr>
        <p:spPr>
          <a:xfrm>
            <a:off x="3227832" y="1700784"/>
            <a:ext cx="2743200" cy="2871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21" name="Shape 14"/>
          <p:cNvSpPr/>
          <p:nvPr/>
        </p:nvSpPr>
        <p:spPr>
          <a:xfrm>
            <a:off x="3227832" y="1700784"/>
            <a:ext cx="2743200" cy="548640"/>
          </a:xfrm>
          <a:prstGeom prst="rect">
            <a:avLst/>
          </a:prstGeom>
          <a:solidFill>
            <a:srgbClr val="008B9A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22" name="Text 15"/>
          <p:cNvSpPr/>
          <p:nvPr/>
        </p:nvSpPr>
        <p:spPr>
          <a:xfrm>
            <a:off x="3319272" y="1719072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23" name="Text 16"/>
          <p:cNvSpPr/>
          <p:nvPr/>
        </p:nvSpPr>
        <p:spPr>
          <a:xfrm>
            <a:off x="3867912" y="1728216"/>
            <a:ext cx="20299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 (after results)</a:t>
            </a:r>
            <a:endParaRPr lang="en-US" sz="105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2359152"/>
            <a:ext cx="237744" cy="23774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3648456" y="2340864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experience to new nodes</a:t>
            </a:r>
            <a:endParaRPr lang="en-US" sz="105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2889504"/>
            <a:ext cx="237744" cy="237744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3648456" y="2871216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old equipment as it wears out</a:t>
            </a:r>
            <a:endParaRPr lang="en-US" sz="105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3419856"/>
            <a:ext cx="237744" cy="237744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3648456" y="3401568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with municipal systems</a:t>
            </a:r>
            <a:endParaRPr lang="en-US" sz="1050" dirty="0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3950208"/>
            <a:ext cx="237744" cy="237744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3648456" y="3931920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 new funding based on results</a:t>
            </a:r>
            <a:endParaRPr lang="en-US" sz="1050" dirty="0"/>
          </a:p>
        </p:txBody>
      </p:sp>
      <p:sp>
        <p:nvSpPr>
          <p:cNvPr id="32" name="Shape 21"/>
          <p:cNvSpPr/>
          <p:nvPr/>
        </p:nvSpPr>
        <p:spPr>
          <a:xfrm>
            <a:off x="6135624" y="1700784"/>
            <a:ext cx="2743200" cy="2871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33" name="Shape 22"/>
          <p:cNvSpPr/>
          <p:nvPr/>
        </p:nvSpPr>
        <p:spPr>
          <a:xfrm>
            <a:off x="6135624" y="1700784"/>
            <a:ext cx="2743200" cy="548640"/>
          </a:xfrm>
          <a:prstGeom prst="rect">
            <a:avLst/>
          </a:prstGeom>
          <a:solidFill>
            <a:srgbClr val="1A7A4A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4" name="Text 23"/>
          <p:cNvSpPr/>
          <p:nvPr/>
        </p:nvSpPr>
        <p:spPr>
          <a:xfrm>
            <a:off x="6227064" y="1719072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35" name="Text 24"/>
          <p:cNvSpPr/>
          <p:nvPr/>
        </p:nvSpPr>
        <p:spPr>
          <a:xfrm>
            <a:off x="6775704" y="1728216"/>
            <a:ext cx="20299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System  (long-term)</a:t>
            </a:r>
            <a:endParaRPr lang="en-US" sz="1050" dirty="0"/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2359152"/>
            <a:ext cx="237744" cy="237744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6556248" y="2340864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Traffic Management Center</a:t>
            </a:r>
            <a:endParaRPr lang="en-US" sz="1050" dirty="0"/>
          </a:p>
        </p:txBody>
      </p:sp>
      <p:pic>
        <p:nvPicPr>
          <p:cNvPr id="38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2889504"/>
            <a:ext cx="237744" cy="237744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6556248" y="2871216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nodes in a unified digital network</a:t>
            </a:r>
            <a:endParaRPr lang="en-US" sz="1050" dirty="0"/>
          </a:p>
        </p:txBody>
      </p:sp>
      <p:pic>
        <p:nvPicPr>
          <p:cNvPr id="40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3419856"/>
            <a:ext cx="237744" cy="237744"/>
          </a:xfrm>
          <a:prstGeom prst="rect">
            <a:avLst/>
          </a:prstGeom>
        </p:spPr>
      </p:pic>
      <p:sp>
        <p:nvSpPr>
          <p:cNvPr id="41" name="Text 27"/>
          <p:cNvSpPr/>
          <p:nvPr/>
        </p:nvSpPr>
        <p:spPr>
          <a:xfrm>
            <a:off x="6556248" y="3401568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manages the city in real time</a:t>
            </a:r>
            <a:endParaRPr lang="en-US" sz="1050" dirty="0"/>
          </a:p>
        </p:txBody>
      </p:sp>
      <p:pic>
        <p:nvPicPr>
          <p:cNvPr id="42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3950208"/>
            <a:ext cx="237744" cy="237744"/>
          </a:xfrm>
          <a:prstGeom prst="rect">
            <a:avLst/>
          </a:prstGeom>
        </p:spPr>
      </p:pic>
      <p:sp>
        <p:nvSpPr>
          <p:cNvPr id="43" name="Text 28"/>
          <p:cNvSpPr/>
          <p:nvPr/>
        </p:nvSpPr>
        <p:spPr>
          <a:xfrm>
            <a:off x="6556248" y="3931920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for other cities in Ukraine and the EU</a:t>
            </a:r>
            <a:endParaRPr lang="en-US" sz="1050" dirty="0"/>
          </a:p>
        </p:txBody>
      </p:sp>
      <p:sp>
        <p:nvSpPr>
          <p:cNvPr id="44" name="Shape 2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B4E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45" name="Text 3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E4"/>
                </a:solidFill>
              </a:rPr>
              <a:t>U_CAN Pilot • Khmelnytskyi</a:t>
            </a:r>
            <a:endParaRPr lang="en-US" sz="900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4F361CF4-8118-0D7A-6408-63059E7333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5575" y="0"/>
            <a:ext cx="1417790" cy="90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8288"/>
            <a:ext cx="9144000" cy="914400"/>
          </a:xfrm>
          <a:prstGeom prst="rect">
            <a:avLst/>
          </a:prstGeom>
          <a:solidFill>
            <a:srgbClr val="0D2B4E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A91C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Embed Research into City Plans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160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4160520" cy="457200"/>
          </a:xfrm>
          <a:prstGeom prst="rect">
            <a:avLst/>
          </a:prstGeom>
          <a:solidFill>
            <a:srgbClr val="1263A0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What to Include in the Plan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591056"/>
            <a:ext cx="54864" cy="530352"/>
          </a:xfrm>
          <a:prstGeom prst="rect">
            <a:avLst/>
          </a:prstGeom>
          <a:solidFill>
            <a:srgbClr val="1263A0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9" name="Text 7"/>
          <p:cNvSpPr/>
          <p:nvPr/>
        </p:nvSpPr>
        <p:spPr>
          <a:xfrm>
            <a:off x="594360" y="159105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Transport Plan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86537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AI-compatibility requirement for new equipment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359152"/>
            <a:ext cx="54864" cy="530352"/>
          </a:xfrm>
          <a:prstGeom prst="rect">
            <a:avLst/>
          </a:prstGeom>
          <a:solidFill>
            <a:srgbClr val="1263A0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2" name="Text 10"/>
          <p:cNvSpPr/>
          <p:nvPr/>
        </p:nvSpPr>
        <p:spPr>
          <a:xfrm>
            <a:off x="594360" y="235915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Plan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263347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modernization with smart technologies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127248"/>
            <a:ext cx="54864" cy="530352"/>
          </a:xfrm>
          <a:prstGeom prst="rect">
            <a:avLst/>
          </a:prstGeom>
          <a:solidFill>
            <a:srgbClr val="1263A0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5" name="Text 13"/>
          <p:cNvSpPr/>
          <p:nvPr/>
        </p:nvSpPr>
        <p:spPr>
          <a:xfrm>
            <a:off x="594360" y="312724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Standards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340156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</a:t>
            </a:r>
            <a:r>
              <a:rPr lang="en-US" sz="1050" dirty="0" err="1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</a:t>
            </a:r>
            <a:r>
              <a:rPr lang="en-US" sz="1050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050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50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only with open API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895344"/>
            <a:ext cx="54864" cy="530352"/>
          </a:xfrm>
          <a:prstGeom prst="rect">
            <a:avLst/>
          </a:prstGeom>
          <a:solidFill>
            <a:srgbClr val="1263A0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8" name="Text 16"/>
          <p:cNvSpPr/>
          <p:nvPr/>
        </p:nvSpPr>
        <p:spPr>
          <a:xfrm>
            <a:off x="594360" y="389534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KhNU – Council</a:t>
            </a:r>
            <a:r>
              <a:rPr lang="uk-UA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416966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as a permanent technical partner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1005840"/>
            <a:ext cx="4160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21" name="Shape 19"/>
          <p:cNvSpPr/>
          <p:nvPr/>
        </p:nvSpPr>
        <p:spPr>
          <a:xfrm>
            <a:off x="4663440" y="1005840"/>
            <a:ext cx="4160520" cy="457200"/>
          </a:xfrm>
          <a:prstGeom prst="rect">
            <a:avLst/>
          </a:prstGeom>
          <a:solidFill>
            <a:srgbClr val="008B9A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22" name="Text 20"/>
          <p:cNvSpPr/>
          <p:nvPr/>
        </p:nvSpPr>
        <p:spPr>
          <a:xfrm>
            <a:off x="4663440" y="10058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Why This Is Realistic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791456" y="1591056"/>
            <a:ext cx="402336" cy="402336"/>
          </a:xfrm>
          <a:prstGeom prst="rect">
            <a:avLst/>
          </a:prstGeom>
          <a:solidFill>
            <a:srgbClr val="008B9A"/>
          </a:solidFill>
          <a:ln w="12700">
            <a:solidFill>
              <a:srgbClr val="008B9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888" y="1618488"/>
            <a:ext cx="347472" cy="347472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5266944" y="1591056"/>
            <a:ext cx="34198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</a:t>
            </a:r>
            <a:r>
              <a:rPr lang="en-US" sz="11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published</a:t>
            </a: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technical foundation is ready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4791456" y="2231136"/>
            <a:ext cx="402336" cy="402336"/>
          </a:xfrm>
          <a:prstGeom prst="rect">
            <a:avLst/>
          </a:prstGeom>
          <a:solidFill>
            <a:srgbClr val="008B9A"/>
          </a:solidFill>
          <a:ln w="12700">
            <a:solidFill>
              <a:srgbClr val="008B9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2258568"/>
            <a:ext cx="347472" cy="347472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266944" y="2231136"/>
            <a:ext cx="34198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to replace everything </a:t>
            </a:r>
            <a:r>
              <a:rPr lang="en-US" sz="11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once</a:t>
            </a: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equipment wears out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4791456" y="2871216"/>
            <a:ext cx="402336" cy="402336"/>
          </a:xfrm>
          <a:prstGeom prst="rect">
            <a:avLst/>
          </a:prstGeom>
          <a:solidFill>
            <a:srgbClr val="008B9A"/>
          </a:solidFill>
          <a:ln w="12700">
            <a:solidFill>
              <a:srgbClr val="008B9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888" y="2898648"/>
            <a:ext cx="347472" cy="347472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266944" y="2871216"/>
            <a:ext cx="34198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Future-proof </a:t>
            </a:r>
            <a:r>
              <a:rPr lang="en-US" sz="11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meets EU requirements</a:t>
            </a:r>
            <a:endParaRPr lang="en-US" sz="1150" dirty="0"/>
          </a:p>
        </p:txBody>
      </p:sp>
      <p:sp>
        <p:nvSpPr>
          <p:cNvPr id="32" name="Shape 27"/>
          <p:cNvSpPr/>
          <p:nvPr/>
        </p:nvSpPr>
        <p:spPr>
          <a:xfrm>
            <a:off x="4791456" y="3511296"/>
            <a:ext cx="402336" cy="402336"/>
          </a:xfrm>
          <a:prstGeom prst="rect">
            <a:avLst/>
          </a:prstGeom>
          <a:solidFill>
            <a:srgbClr val="008B9A"/>
          </a:solidFill>
          <a:ln w="12700">
            <a:solidFill>
              <a:srgbClr val="008B9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8888" y="3538728"/>
            <a:ext cx="347472" cy="347472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266944" y="3511296"/>
            <a:ext cx="34198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of each </a:t>
            </a:r>
            <a:r>
              <a:rPr lang="en-US" sz="11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 argument for grants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4791456" y="4151376"/>
            <a:ext cx="402336" cy="402336"/>
          </a:xfrm>
          <a:prstGeom prst="rect">
            <a:avLst/>
          </a:prstGeom>
          <a:solidFill>
            <a:srgbClr val="008B9A"/>
          </a:solidFill>
          <a:ln w="12700">
            <a:solidFill>
              <a:srgbClr val="008B9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8888" y="4178808"/>
            <a:ext cx="347472" cy="347472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5266944" y="4151376"/>
            <a:ext cx="34198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KhNU remains </a:t>
            </a:r>
            <a:r>
              <a:rPr lang="en-US" sz="11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partner</a:t>
            </a: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knowledge is not lost</a:t>
            </a:r>
            <a:endParaRPr lang="en-US" sz="1150" dirty="0"/>
          </a:p>
        </p:txBody>
      </p:sp>
      <p:sp>
        <p:nvSpPr>
          <p:cNvPr id="38" name="Shape 3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B4E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9" name="Text 3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E4"/>
                </a:solidFill>
              </a:rPr>
              <a:t>U_CAN Pilot • Khmelnytskyi</a:t>
            </a:r>
            <a:endParaRPr lang="en-US" sz="9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D0A747DE-4068-A860-AD82-64901BDDD3D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05575" y="0"/>
            <a:ext cx="1417790" cy="90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4E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590A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Uncertainties for Scenario Planning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206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73152" cy="102412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7" name="Shape 5"/>
          <p:cNvSpPr/>
          <p:nvPr/>
        </p:nvSpPr>
        <p:spPr>
          <a:xfrm>
            <a:off x="457200" y="1307592"/>
            <a:ext cx="50292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32588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33272" y="112471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Wartime Context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33272" y="147218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destruction, blackouts, unpredictability of planning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0040" y="2221992"/>
            <a:ext cx="4206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2" name="Shape 9"/>
          <p:cNvSpPr/>
          <p:nvPr/>
        </p:nvSpPr>
        <p:spPr>
          <a:xfrm>
            <a:off x="320040" y="2221992"/>
            <a:ext cx="73152" cy="1024128"/>
          </a:xfrm>
          <a:prstGeom prst="rect">
            <a:avLst/>
          </a:prstGeom>
          <a:solidFill>
            <a:srgbClr val="D4590A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3" name="Shape 10"/>
          <p:cNvSpPr/>
          <p:nvPr/>
        </p:nvSpPr>
        <p:spPr>
          <a:xfrm>
            <a:off x="457200" y="2478024"/>
            <a:ext cx="502920" cy="502920"/>
          </a:xfrm>
          <a:prstGeom prst="rect">
            <a:avLst/>
          </a:prstGeom>
          <a:solidFill>
            <a:srgbClr val="D4590A"/>
          </a:solidFill>
          <a:ln w="12700">
            <a:solidFill>
              <a:srgbClr val="D4590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2496312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33272" y="229514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 Infrastructure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033272" y="264261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equipment replacement is needed </a:t>
            </a:r>
            <a:r>
              <a:rPr lang="uk-UA" sz="1000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00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when and where will the funds come from?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20040" y="3392424"/>
            <a:ext cx="4206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8" name="Shape 14"/>
          <p:cNvSpPr/>
          <p:nvPr/>
        </p:nvSpPr>
        <p:spPr>
          <a:xfrm>
            <a:off x="320040" y="3392424"/>
            <a:ext cx="73152" cy="1024128"/>
          </a:xfrm>
          <a:prstGeom prst="rect">
            <a:avLst/>
          </a:prstGeom>
          <a:solidFill>
            <a:srgbClr val="1263A0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9" name="Shape 15"/>
          <p:cNvSpPr/>
          <p:nvPr/>
        </p:nvSpPr>
        <p:spPr>
          <a:xfrm>
            <a:off x="457200" y="3648456"/>
            <a:ext cx="502920" cy="502920"/>
          </a:xfrm>
          <a:prstGeom prst="rect">
            <a:avLst/>
          </a:prstGeom>
          <a:solidFill>
            <a:srgbClr val="1263A0"/>
          </a:solidFill>
          <a:ln w="12700">
            <a:solidFill>
              <a:srgbClr val="1263A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3666744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33272" y="346557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Sustainability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033272" y="381304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budget, EU grants, donors </a:t>
            </a:r>
            <a:r>
              <a:rPr lang="uk-UA" sz="1000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00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what will be available?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754880" y="1051560"/>
            <a:ext cx="4206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24" name="Shape 19"/>
          <p:cNvSpPr/>
          <p:nvPr/>
        </p:nvSpPr>
        <p:spPr>
          <a:xfrm>
            <a:off x="4754880" y="1051560"/>
            <a:ext cx="73152" cy="1024128"/>
          </a:xfrm>
          <a:prstGeom prst="rect">
            <a:avLst/>
          </a:prstGeom>
          <a:solidFill>
            <a:srgbClr val="008B9A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25" name="Shape 20"/>
          <p:cNvSpPr/>
          <p:nvPr/>
        </p:nvSpPr>
        <p:spPr>
          <a:xfrm>
            <a:off x="4892040" y="1307592"/>
            <a:ext cx="502920" cy="502920"/>
          </a:xfrm>
          <a:prstGeom prst="rect">
            <a:avLst/>
          </a:prstGeom>
          <a:solidFill>
            <a:srgbClr val="008B9A"/>
          </a:solidFill>
          <a:ln w="12700">
            <a:solidFill>
              <a:srgbClr val="008B9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1325880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468112" y="112471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Acceptance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5468112" y="147218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residents support new restrictions and traffic changes?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4754880" y="2221992"/>
            <a:ext cx="4206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30" name="Shape 24"/>
          <p:cNvSpPr/>
          <p:nvPr/>
        </p:nvSpPr>
        <p:spPr>
          <a:xfrm>
            <a:off x="4754880" y="2221992"/>
            <a:ext cx="73152" cy="1024128"/>
          </a:xfrm>
          <a:prstGeom prst="rect">
            <a:avLst/>
          </a:prstGeom>
          <a:solidFill>
            <a:srgbClr val="1A7A4A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1" name="Shape 25"/>
          <p:cNvSpPr/>
          <p:nvPr/>
        </p:nvSpPr>
        <p:spPr>
          <a:xfrm>
            <a:off x="4892040" y="2478024"/>
            <a:ext cx="502920" cy="5029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0328" y="2496312"/>
            <a:ext cx="457200" cy="45720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468112" y="229514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Reliability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5468112" y="264261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there be a technical base for the system to operate under crisis conditions?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4754880" y="3392424"/>
            <a:ext cx="4206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36" name="Shape 29"/>
          <p:cNvSpPr/>
          <p:nvPr/>
        </p:nvSpPr>
        <p:spPr>
          <a:xfrm>
            <a:off x="4754880" y="3392424"/>
            <a:ext cx="73152" cy="1024128"/>
          </a:xfrm>
          <a:prstGeom prst="rect">
            <a:avLst/>
          </a:prstGeom>
          <a:solidFill>
            <a:srgbClr val="8E44AD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7" name="Shape 30"/>
          <p:cNvSpPr/>
          <p:nvPr/>
        </p:nvSpPr>
        <p:spPr>
          <a:xfrm>
            <a:off x="4892040" y="3648456"/>
            <a:ext cx="502920" cy="50292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0328" y="3666744"/>
            <a:ext cx="457200" cy="45720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5468112" y="346557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5468112" y="381304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model be transferred to other cities in Ukraine and the EU?</a:t>
            </a:r>
            <a:endParaRPr lang="en-US" sz="1000" dirty="0"/>
          </a:p>
        </p:txBody>
      </p:sp>
      <p:sp>
        <p:nvSpPr>
          <p:cNvPr id="41" name="Shape 3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B4E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42" name="Text 3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E4"/>
                </a:solidFill>
              </a:rPr>
              <a:t>U_CAN Pilot • Khmelnytskyi</a:t>
            </a:r>
            <a:endParaRPr lang="en-US" sz="90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89073CD8-6240-7E43-5C4C-98384560BBB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05575" y="0"/>
            <a:ext cx="1417790" cy="90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B9A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" name="Shape 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08B9A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Request for Today's Workshop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5486400" cy="45720"/>
          </a:xfrm>
          <a:prstGeom prst="rect">
            <a:avLst/>
          </a:prstGeom>
          <a:solidFill>
            <a:srgbClr val="008B9A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7132320" cy="621792"/>
          </a:xfrm>
          <a:prstGeom prst="rect">
            <a:avLst/>
          </a:prstGeom>
          <a:solidFill>
            <a:srgbClr val="0D3A5C"/>
          </a:solidFill>
          <a:ln w="12700">
            <a:solidFill>
              <a:srgbClr val="1263A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7" name="Shape 5"/>
          <p:cNvSpPr/>
          <p:nvPr/>
        </p:nvSpPr>
        <p:spPr>
          <a:xfrm>
            <a:off x="502920" y="1362456"/>
            <a:ext cx="420624" cy="420624"/>
          </a:xfrm>
          <a:prstGeom prst="rect">
            <a:avLst/>
          </a:prstGeom>
          <a:solidFill>
            <a:srgbClr val="1263A0"/>
          </a:solidFill>
          <a:ln w="12700">
            <a:solidFill>
              <a:srgbClr val="1263A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1380744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1316736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uncertainties are most critical for the pilot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365760" y="2029968"/>
            <a:ext cx="7132320" cy="621792"/>
          </a:xfrm>
          <a:prstGeom prst="rect">
            <a:avLst/>
          </a:prstGeom>
          <a:solidFill>
            <a:srgbClr val="0D3A5C"/>
          </a:solidFill>
          <a:ln w="12700">
            <a:solidFill>
              <a:srgbClr val="1263A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1" name="Shape 8"/>
          <p:cNvSpPr/>
          <p:nvPr/>
        </p:nvSpPr>
        <p:spPr>
          <a:xfrm>
            <a:off x="502920" y="2112264"/>
            <a:ext cx="420624" cy="420624"/>
          </a:xfrm>
          <a:prstGeom prst="rect">
            <a:avLst/>
          </a:prstGeom>
          <a:solidFill>
            <a:srgbClr val="1263A0"/>
          </a:solidFill>
          <a:ln w="12700">
            <a:solidFill>
              <a:srgbClr val="1263A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" y="2130552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05840" y="2066544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 key stakeholders and vulnerable groups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365760" y="2779776"/>
            <a:ext cx="7132320" cy="621792"/>
          </a:xfrm>
          <a:prstGeom prst="rect">
            <a:avLst/>
          </a:prstGeom>
          <a:solidFill>
            <a:srgbClr val="0D3A5C"/>
          </a:solidFill>
          <a:ln w="12700">
            <a:solidFill>
              <a:srgbClr val="1263A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5" name="Shape 11"/>
          <p:cNvSpPr/>
          <p:nvPr/>
        </p:nvSpPr>
        <p:spPr>
          <a:xfrm>
            <a:off x="502920" y="2862072"/>
            <a:ext cx="420624" cy="420624"/>
          </a:xfrm>
          <a:prstGeom prst="rect">
            <a:avLst/>
          </a:prstGeom>
          <a:solidFill>
            <a:srgbClr val="1263A0"/>
          </a:solidFill>
          <a:ln w="12700">
            <a:solidFill>
              <a:srgbClr val="1263A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" y="2880360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05840" y="2816352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the city's readiness </a:t>
            </a:r>
            <a:r>
              <a:rPr lang="uk-UA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city's </a:t>
            </a:r>
            <a:r>
              <a:rPr lang="uk-UA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technical, institutional, financial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365760" y="3529584"/>
            <a:ext cx="7132320" cy="621792"/>
          </a:xfrm>
          <a:prstGeom prst="rect">
            <a:avLst/>
          </a:prstGeom>
          <a:solidFill>
            <a:srgbClr val="0D3A5C"/>
          </a:solidFill>
          <a:ln w="12700">
            <a:solidFill>
              <a:srgbClr val="1263A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9" name="Shape 14"/>
          <p:cNvSpPr/>
          <p:nvPr/>
        </p:nvSpPr>
        <p:spPr>
          <a:xfrm>
            <a:off x="502920" y="3611880"/>
            <a:ext cx="420624" cy="420624"/>
          </a:xfrm>
          <a:prstGeom prst="rect">
            <a:avLst/>
          </a:prstGeom>
          <a:solidFill>
            <a:srgbClr val="1263A0"/>
          </a:solidFill>
          <a:ln w="12700">
            <a:solidFill>
              <a:srgbClr val="1263A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208" y="3630168"/>
            <a:ext cx="384048" cy="38404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05840" y="3566160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formulate under what conditions implementation will succeed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365760" y="427939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technology exists. The research exists. The question is as follows: In what kind of future will we implement them?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0" y="4590288"/>
            <a:ext cx="9144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Khmelnytskyi National University  •  Transport Department of MR  •  U_CAN 202</a:t>
            </a:r>
            <a:r>
              <a:rPr lang="uk-UA" sz="1000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961</Words>
  <Application>Microsoft Office PowerPoint</Application>
  <PresentationFormat>On-screen Show (16:9)</PresentationFormat>
  <Paragraphs>168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SMW_Khmelnytskyi_Pilot_UCAN_EN</dc:title>
  <dc:subject>PptxGenJS Presentation</dc:subject>
  <dc:creator>Pavlo Radiuk</dc:creator>
  <cp:lastModifiedBy>Pavlo Radiuk</cp:lastModifiedBy>
  <cp:revision>17</cp:revision>
  <dcterms:created xsi:type="dcterms:W3CDTF">2026-03-31T14:20:47Z</dcterms:created>
  <dcterms:modified xsi:type="dcterms:W3CDTF">2026-04-01T11:48:54Z</dcterms:modified>
</cp:coreProperties>
</file>